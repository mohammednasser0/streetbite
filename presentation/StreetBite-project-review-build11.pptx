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7d5083f0554215" /><Relationship Type="http://schemas.openxmlformats.org/officeDocument/2006/relationships/extended-properties" Target="/docProps/app.xml" Id="R4ee784dcac084a04" /><Relationship Type="http://schemas.openxmlformats.org/officeDocument/2006/relationships/officeDocument" Target="/ppt/presentation.xml" Id="R10ffccd278364249" /></Relationships>
</file>

<file path=ppt/presentation.xml><?xml version="1.0" encoding="utf-8"?>
<p:presentation xmlns:p="http://schemas.openxmlformats.org/presentationml/2006/main">
  <p:sldMasterIdLst>
    <p:sldMasterId xmlns:r="http://schemas.openxmlformats.org/officeDocument/2006/relationships" id="2147483648" r:id="Rca2576fd4ed24f72"/>
  </p:sldMasterIdLst>
  <p:notesMasterIdLst>
    <p:notesMasterId xmlns:r="http://schemas.openxmlformats.org/officeDocument/2006/relationships" r:id="R30c793d955194819"/>
  </p:notesMasterIdLst>
  <p:sldIdLst>
    <p:sldId xmlns:r="http://schemas.openxmlformats.org/officeDocument/2006/relationships" id="256" r:id="R58e6ace98bcc4e7e"/>
    <p:sldId xmlns:r="http://schemas.openxmlformats.org/officeDocument/2006/relationships" id="257" r:id="Ra4803d5ea7684479"/>
    <p:sldId xmlns:r="http://schemas.openxmlformats.org/officeDocument/2006/relationships" id="258" r:id="R13287617076d44c4"/>
    <p:sldId xmlns:r="http://schemas.openxmlformats.org/officeDocument/2006/relationships" id="259" r:id="R6b000b27fbbf48b8"/>
    <p:sldId xmlns:r="http://schemas.openxmlformats.org/officeDocument/2006/relationships" id="260" r:id="R48ff380ddbee4935"/>
    <p:sldId xmlns:r="http://schemas.openxmlformats.org/officeDocument/2006/relationships" id="261" r:id="Rc0dae55c2ab1411c"/>
    <p:sldId xmlns:r="http://schemas.openxmlformats.org/officeDocument/2006/relationships" id="262" r:id="R51ce3fad4764413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48b9c149924711" /><Relationship Type="http://schemas.openxmlformats.org/officeDocument/2006/relationships/slideMaster" Target="/ppt/slideMasters/slideMaster1.xml" Id="Rca2576fd4ed24f72" /><Relationship Type="http://schemas.openxmlformats.org/officeDocument/2006/relationships/notesMaster" Target="/ppt/notesMasters/notesMaster1.xml" Id="R30c793d955194819" /><Relationship Type="http://schemas.openxmlformats.org/officeDocument/2006/relationships/presProps" Target="/ppt/presProps.xml" Id="R05abd9c767f84b00" /><Relationship Type="http://schemas.openxmlformats.org/officeDocument/2006/relationships/tableStyles" Target="/ppt/tableStyles.xml" Id="Rccca6facc5f24301" /><Relationship Type="http://schemas.openxmlformats.org/officeDocument/2006/relationships/slide" Target="/ppt/slides/slide1.xml" Id="R58e6ace98bcc4e7e" /><Relationship Type="http://schemas.openxmlformats.org/officeDocument/2006/relationships/slide" Target="/ppt/slides/slide2.xml" Id="Ra4803d5ea7684479" /><Relationship Type="http://schemas.openxmlformats.org/officeDocument/2006/relationships/slide" Target="/ppt/slides/slide3.xml" Id="R13287617076d44c4" /><Relationship Type="http://schemas.openxmlformats.org/officeDocument/2006/relationships/slide" Target="/ppt/slides/slide4.xml" Id="R6b000b27fbbf48b8" /><Relationship Type="http://schemas.openxmlformats.org/officeDocument/2006/relationships/slide" Target="/ppt/slides/slide5.xml" Id="R48ff380ddbee4935" /><Relationship Type="http://schemas.openxmlformats.org/officeDocument/2006/relationships/slide" Target="/ppt/slides/slide6.xml" Id="Rc0dae55c2ab1411c" /><Relationship Type="http://schemas.openxmlformats.org/officeDocument/2006/relationships/slide" Target="/ppt/slides/slide7.xml" Id="R51ce3fad476441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fc03e0758549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b430955bf84b62" /><Relationship Type="http://schemas.openxmlformats.org/officeDocument/2006/relationships/notesMaster" Target="/ppt/notesMasters/notesMaster1.xml" Id="Rc056cc0eb1d34b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63888a41fd493b" /><Relationship Type="http://schemas.openxmlformats.org/officeDocument/2006/relationships/notesMaster" Target="/ppt/notesMasters/notesMaster1.xml" Id="R1184cc7c9d314b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221a81ae43469e" /><Relationship Type="http://schemas.openxmlformats.org/officeDocument/2006/relationships/notesMaster" Target="/ppt/notesMasters/notesMaster1.xml" Id="R54d049bafac64c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f70f46d49c4324" /><Relationship Type="http://schemas.openxmlformats.org/officeDocument/2006/relationships/notesMaster" Target="/ppt/notesMasters/notesMaster1.xml" Id="R915422c8679443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8b3b6ea5e04a91" /><Relationship Type="http://schemas.openxmlformats.org/officeDocument/2006/relationships/notesMaster" Target="/ppt/notesMasters/notesMaster1.xml" Id="R0e71e8c00b8a4f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76a71208034652" /><Relationship Type="http://schemas.openxmlformats.org/officeDocument/2006/relationships/notesMaster" Target="/ppt/notesMasters/notesMaster1.xml" Id="Ra2193699a65f4e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4f3950637b40db" /><Relationship Type="http://schemas.openxmlformats.org/officeDocument/2006/relationships/notesMaster" Target="/ppt/notesMasters/notesMaster1.xml" Id="Rcdac2ac2556b40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and screenshots: https://github.com/MohammedNasser0/streetbite. Captured from the Android emulator on 12 October 2026. Figma reference: https://www.figma.com/community/file/1352761962360670057/food-delivery-mobile-app-ui-kit by Vlad Solomakha, CC BY 4.0. Recipe data: https://www.themealdb.com/api.php. Prices, vendors and payment results are demonstration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and screenshots: https://github.com/MohammedNasser0/streetbite. Captured from the Android emulator on 12 October 2026. Figma reference: https://www.figma.com/community/file/1352761962360670057/food-delivery-mobile-app-ui-kit by Vlad Solomakha, CC BY 4.0. Recipe data: https://www.themealdb.com/api.php. Prices, vendors and payment results are demonstration data. Developer name is taken from the project owner’s Git identity. No additional biography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and screenshots: https://github.com/MohammedNasser0/streetbite. Captured from the Android emulator on 12 October 2026. Figma reference: https://www.figma.com/community/file/1352761962360670057/food-delivery-mobile-app-ui-kit by Vlad Solomakha, CC BY 4.0. Recipe data: https://www.themealdb.com/api.php. Prices, vendors and payment results are demonstration data. Process is based on the assignment, saved implementation and verification records. This is a workflow, not an invented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and screenshots: https://github.com/MohammedNasser0/streetbite. Captured from the Android emulator on 12 October 2026. Figma reference: https://www.figma.com/community/file/1352761962360670057/food-delivery-mobile-app-ui-kit by Vlad Solomakha, CC BY 4.0. Recipe data: https://www.themealdb.com/api.php. Prices, vendors and payment results are demonstration data. See flutter_app/lib and README.md for the implementation. Firebase app identifiers do not replace security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and screenshots: https://github.com/MohammedNasser0/streetbite. Captured from the Android emulator on 12 October 2026. Figma reference: https://www.figma.com/community/file/1352761962360670057/food-delivery-mobile-app-ui-kit by Vlad Solomakha, CC BY 4.0. Recipe data: https://www.themealdb.com/api.php. Prices, vendors and payment results are demonstration data. Screenshots are actual emulator captures; full Figma fidelity is still under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and screenshots: https://github.com/MohammedNasser0/streetbite. Captured from the Android emulator on 12 October 2026. Figma reference: https://www.figma.com/community/file/1352761962360670057/food-delivery-mobile-app-ui-kit by Vlad Solomakha, CC BY 4.0. Recipe data: https://www.themealdb.com/api.php. Prices, vendors and payment results are demonstration data. Cart prices are educational demonstration data. No real payment or restaurant dispatch is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 11 final APK SHA256 e596c3ff1b5897f3a18e121f53d4f5f310f6158f7158405bf5573398c2125a8f. Firebase release 3clm3j8ki2bng uploaded and distributed to the same two authorized testers on 14 October 2026. All 31 Flutter tests passed and analyzer clean. Native BrowseRetryTest failed once before onboarding because Android System UI showed an ANR. After QA emulator recovery and a 720x1600 / density 280 override preserving the logical viewport, the offline-to-online query-preserving retry passed in 52 seconds. A separate repeated passing run captured settled visual evidence. Connection state restored in finally. Full physical five-case suite remains build 9; full profile/photo/restart remains build 4. Slide 6 details/cart are genuine build 9 captures; search retry is genuine build 11. Manual cases remain scoped to their actual executions. Figma fidelity partial, bonus map tiles deferred, tester acceptance unverified. Demo payments only; no restaurant dispatch.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99dfd3900146e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54baf404ba64c5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4d2ea42ec8462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2fcd6e7a38c4f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c2a78fd992442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569ec45845a49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946786-E0DA-4672-BD17-F0F278D51BC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54098DD-F05E-47F7-B216-841D8D880AE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87ACE4E-4E7A-4212-A3E2-2F7D9F5C738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3E4BD0-40B5-4421-935A-61E19E92BD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D01A53F-D8C4-43DF-B29A-04659445552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ACD6E22-B925-4939-A089-828AF49962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FC749D-7B6E-4E4B-9596-B4D77E0815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BC1F14A-8BB4-45EC-B558-92890833C96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1237F6-CE3D-4BDA-9E19-28B0242BCD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FD8F8D-EA16-4EF4-81AA-E935F6A1A4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8e55dc5c65498d" /><Relationship Type="http://schemas.openxmlformats.org/officeDocument/2006/relationships/slideLayout" Target="/ppt/slideLayouts/slideLayout1.xml" Id="R08442d1215bf47e5" /><Relationship Type="http://schemas.openxmlformats.org/officeDocument/2006/relationships/slideLayout" Target="/ppt/slideLayouts/slideLayout2.xml" Id="Rdc90d35c2cce4217" /><Relationship Type="http://schemas.openxmlformats.org/officeDocument/2006/relationships/slideLayout" Target="/ppt/slideLayouts/slideLayout3.xml" Id="Rc5551b29da494578" /><Relationship Type="http://schemas.openxmlformats.org/officeDocument/2006/relationships/slideLayout" Target="/ppt/slideLayouts/slideLayout4.xml" Id="R1843580a7a934284" /><Relationship Type="http://schemas.openxmlformats.org/officeDocument/2006/relationships/slideLayout" Target="/ppt/slideLayouts/slideLayout5.xml" Id="R67af2f321c6747a9" /><Relationship Type="http://schemas.openxmlformats.org/officeDocument/2006/relationships/slideLayout" Target="/ppt/slideLayouts/slideLayout6.xml" Id="Rb5b7a31f891440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442d1215bf47e5"/>
    <p:sldLayoutId xmlns:r="http://schemas.openxmlformats.org/officeDocument/2006/relationships" id="2147483650" r:id="Rdc90d35c2cce4217"/>
    <p:sldLayoutId xmlns:r="http://schemas.openxmlformats.org/officeDocument/2006/relationships" id="2147483651" r:id="Rc5551b29da494578"/>
    <p:sldLayoutId xmlns:r="http://schemas.openxmlformats.org/officeDocument/2006/relationships" id="2147483652" r:id="R1843580a7a934284"/>
    <p:sldLayoutId xmlns:r="http://schemas.openxmlformats.org/officeDocument/2006/relationships" id="2147483653" r:id="R67af2f321c6747a9"/>
    <p:sldLayoutId xmlns:r="http://schemas.openxmlformats.org/officeDocument/2006/relationships" id="2147483654" r:id="Rb5b7a31f891440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dac302a935d4e00" /><Relationship Type="http://schemas.openxmlformats.org/officeDocument/2006/relationships/image" Target="/ppt/media/image.png" Id="R4e90bd00cda841b7" /><Relationship Type="http://schemas.openxmlformats.org/officeDocument/2006/relationships/notesSlide" Target="/ppt/notesSlides/notesSlide1.xml" Id="R4e7516f2c3cb42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c7e551d20f443e0" /><Relationship Type="http://schemas.openxmlformats.org/officeDocument/2006/relationships/notesSlide" Target="/ppt/notesSlides/notesSlide2.xml" Id="Rf68b6c8d77d140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fb33450df4c49c2" /><Relationship Type="http://schemas.openxmlformats.org/officeDocument/2006/relationships/notesSlide" Target="/ppt/notesSlides/notesSlide3.xml" Id="R671b686c8a9845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7ed88e9c6194022" /><Relationship Type="http://schemas.openxmlformats.org/officeDocument/2006/relationships/notesSlide" Target="/ppt/notesSlides/notesSlide4.xml" Id="R86150d8b96a340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2ba82c756f2496e" /><Relationship Type="http://schemas.openxmlformats.org/officeDocument/2006/relationships/image" Target="/ppt/media/image2.png" Id="R3774bde714aa49ee" /><Relationship Type="http://schemas.openxmlformats.org/officeDocument/2006/relationships/image" Target="/ppt/media/image3.png" Id="R160020874a27487d" /><Relationship Type="http://schemas.openxmlformats.org/officeDocument/2006/relationships/image" Target="/ppt/media/image4.png" Id="R8dc7ea3ade9c43f5" /><Relationship Type="http://schemas.openxmlformats.org/officeDocument/2006/relationships/notesSlide" Target="/ppt/notesSlides/notesSlide5.xml" Id="Re6cf982092a24e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a8cfe594b50434f" /><Relationship Type="http://schemas.openxmlformats.org/officeDocument/2006/relationships/image" Target="/ppt/media/image5.png" Id="Rfc68055e240d4eeb" /><Relationship Type="http://schemas.openxmlformats.org/officeDocument/2006/relationships/image" Target="/ppt/media/image6.png" Id="R29658095495f4325" /><Relationship Type="http://schemas.openxmlformats.org/officeDocument/2006/relationships/image" Target="/ppt/media/image7.png" Id="R0dd7dcfd34bf4a65" /><Relationship Type="http://schemas.openxmlformats.org/officeDocument/2006/relationships/notesSlide" Target="/ppt/notesSlides/notesSlide6.xml" Id="R91ef4155b25e45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5f84635b1124f5e" /><Relationship Type="http://schemas.openxmlformats.org/officeDocument/2006/relationships/notesSlide" Target="/ppt/notesSlides/notesSlide7.xml" Id="R0166cd98a00e46a7" /></Relationships>
</file>

<file path=ppt/slides/slide1.xml><?xml version="1.0" encoding="utf-8"?>
<p:sld xmlns:p="http://schemas.openxmlformats.org/presentationml/2006/main">
  <p:cSld>
    <p:bg>
      <p:bgPr>
        <a:solidFill xmlns:a="http://schemas.openxmlformats.org/drawingml/2006/main">
          <a:srgbClr val="00C87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098E75C-B926-42E6-9E84-CB1732B478BB}"/>
              </a:ext>
            </a:extLst>
          </p:cNvPr>
          <p:cNvSpPr>
            <a:spLocks xmlns:a="http://schemas.openxmlformats.org/drawingml/2006/main" noGrp="1"/>
          </p:cNvSpPr>
          <p:nvPr/>
        </p:nvSpPr>
        <p:spPr>
          <a:xfrm xmlns:a="http://schemas.openxmlformats.org/drawingml/2006/main">
            <a:off x="685800" y="1714500"/>
            <a:ext cx="695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FFFFFF"/>
                </a:solidFill>
                <a:latin typeface="Arial"/>
                <a:ea typeface="Arial"/>
                <a:cs typeface="Arial"/>
              </a:defRPr>
            </a:defPPr>
          </a:lstStyle>
          <a:p xmlns:a="http://schemas.openxmlformats.org/drawingml/2006/main">
            <a:pPr>
              <a:buNone/>
              <a:defRPr sz="5700" b="1">
                <a:solidFill>
                  <a:srgbClr val="FFFFFF"/>
                </a:solidFill>
                <a:latin typeface="Arial"/>
                <a:ea typeface="Arial"/>
                <a:cs typeface="Arial"/>
              </a:defRPr>
            </a:pPr>
            <a:r>
              <a:rPr sz="5700" b="1">
                <a:solidFill>
                  <a:srgbClr val="FFFFFF"/>
                </a:solidFill>
                <a:latin typeface="Arial"/>
                <a:ea typeface="Arial"/>
                <a:cs typeface="Arial"/>
              </a:rPr>
              <a:t>StreetBite</a:t>
            </a:r>
          </a:p>
        </p:txBody>
      </p:sp>
      <p:sp>
        <p:nvSpPr>
          <p:cNvPr id="2" name="">
            <a:extLst xmlns:a="http://schemas.openxmlformats.org/drawingml/2006/main">
              <a:ext uri="{FF2B5EF4-FFF2-40B4-BE49-F238E27FC236}">
                <a16:creationId xmlns:a16="http://schemas.microsoft.com/office/drawing/2014/main" id="{EBDC012B-799F-4D76-ACE0-E833CE4FC9A5}"/>
              </a:ext>
            </a:extLst>
          </p:cNvPr>
          <p:cNvSpPr>
            <a:spLocks xmlns:a="http://schemas.openxmlformats.org/drawingml/2006/main" noGrp="1"/>
          </p:cNvSpPr>
          <p:nvPr/>
        </p:nvSpPr>
        <p:spPr>
          <a:xfrm xmlns:a="http://schemas.openxmlformats.org/drawingml/2006/main">
            <a:off x="685800" y="2857500"/>
            <a:ext cx="676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FFFFFF"/>
                </a:solidFill>
                <a:latin typeface="Arial"/>
                <a:ea typeface="Arial"/>
                <a:cs typeface="Arial"/>
              </a:defRPr>
            </a:defPPr>
          </a:lstStyle>
          <a:p xmlns:a="http://schemas.openxmlformats.org/drawingml/2006/main">
            <a:pPr>
              <a:buNone/>
              <a:defRPr sz="2850" b="0">
                <a:solidFill>
                  <a:srgbClr val="FFFFFF"/>
                </a:solidFill>
                <a:latin typeface="Arial"/>
                <a:ea typeface="Arial"/>
                <a:cs typeface="Arial"/>
              </a:defRPr>
            </a:pPr>
            <a:r>
              <a:rPr sz="2850" b="0">
                <a:solidFill>
                  <a:srgbClr val="FFFFFF"/>
                </a:solidFill>
                <a:latin typeface="Arial"/>
                <a:ea typeface="Arial"/>
                <a:cs typeface="Arial"/>
              </a:rPr>
              <a:t>Food discovery &amp; demo ordering</a:t>
            </a:r>
          </a:p>
        </p:txBody>
      </p:sp>
      <p:sp>
        <p:nvSpPr>
          <p:cNvPr id="3" name="">
            <a:extLst xmlns:a="http://schemas.openxmlformats.org/drawingml/2006/main">
              <a:ext uri="{FF2B5EF4-FFF2-40B4-BE49-F238E27FC236}">
                <a16:creationId xmlns:a16="http://schemas.microsoft.com/office/drawing/2014/main" id="{EE95C0C6-BF40-4E9E-A809-00C4334C2271}"/>
              </a:ext>
            </a:extLst>
          </p:cNvPr>
          <p:cNvSpPr>
            <a:spLocks xmlns:a="http://schemas.openxmlformats.org/drawingml/2006/main" noGrp="1"/>
          </p:cNvSpPr>
          <p:nvPr/>
        </p:nvSpPr>
        <p:spPr>
          <a:xfrm xmlns:a="http://schemas.openxmlformats.org/drawingml/2006/main">
            <a:off x="685800" y="495300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latin typeface="Arial"/>
                <a:ea typeface="Arial"/>
                <a:cs typeface="Arial"/>
              </a:defRPr>
            </a:defPPr>
          </a:lstStyle>
          <a:p xmlns:a="http://schemas.openxmlformats.org/drawingml/2006/main">
            <a:pPr>
              <a:buNone/>
              <a:defRPr sz="1950" b="0">
                <a:solidFill>
                  <a:srgbClr val="FFFFFF"/>
                </a:solidFill>
                <a:latin typeface="Arial"/>
                <a:ea typeface="Arial"/>
                <a:cs typeface="Arial"/>
              </a:defRPr>
            </a:pPr>
            <a:r>
              <a:rPr sz="1950" b="0">
                <a:solidFill>
                  <a:srgbClr val="FFFFFF"/>
                </a:solidFill>
                <a:latin typeface="Arial"/>
                <a:ea typeface="Arial"/>
                <a:cs typeface="Arial"/>
              </a:rPr>
              <a:t>Flutter graduation project</a:t>
            </a:r>
          </a:p>
          <a:p xmlns:a="http://schemas.openxmlformats.org/drawingml/2006/main">
            <a:pPr>
              <a:buNone/>
              <a:defRPr sz="1950" b="0">
                <a:solidFill>
                  <a:srgbClr val="FFFFFF"/>
                </a:solidFill>
                <a:latin typeface="Arial"/>
                <a:ea typeface="Arial"/>
                <a:cs typeface="Arial"/>
              </a:defRPr>
            </a:pPr>
            <a:r>
              <a:rPr sz="1950" b="0">
                <a:solidFill>
                  <a:srgbClr val="FFFFFF"/>
                </a:solidFill>
                <a:latin typeface="Arial"/>
                <a:ea typeface="Arial"/>
                <a:cs typeface="Arial"/>
              </a:rPr>
              <a:t>Mohammed Nasser · October 2026</a:t>
            </a:r>
          </a:p>
        </p:txBody>
      </p:sp>
      <p:pic>
        <p:nvPicPr>
          <p:cNvPr id="4" name="">
            <a:extLst xmlns:a="http://schemas.openxmlformats.org/drawingml/2006/main">
              <a:ext uri="{FF2B5EF4-FFF2-40B4-BE49-F238E27FC236}">
                <a16:creationId xmlns:a16="http://schemas.microsoft.com/office/drawing/2014/main" id="{C655B700-71B2-4058-8F77-C4043EC024A2}"/>
              </a:ext>
            </a:extLst>
          </p:cNvPr>
          <p:cNvPicPr>
            <a:picLocks xmlns:a="http://schemas.openxmlformats.org/drawingml/2006/main" noChangeAspect="1"/>
          </p:cNvPicPr>
          <p:nvPr/>
        </p:nvPicPr>
        <p:blipFill>
          <a:blip xmlns:r="http://schemas.openxmlformats.org/officeDocument/2006/relationships" xmlns:a="http://schemas.openxmlformats.org/drawingml/2006/main" r:embed="R4e90bd00cda841b7"/>
          <a:stretch xmlns:a="http://schemas.openxmlformats.org/drawingml/2006/main"/>
        </p:blipFill>
        <p:spPr>
          <a:xfrm xmlns:a="http://schemas.openxmlformats.org/drawingml/2006/main">
            <a:off x="8572500" y="666750"/>
            <a:ext cx="2314575" cy="5143500"/>
          </a:xfrm>
          <a:prstGeom xmlns:a="http://schemas.openxmlformats.org/drawingml/2006/main" prst="rect">
            <a:avLst/>
          </a:prstGeom>
        </p:spPr>
      </p:pic>
    </p:spTree>
    <p:extLst>
      <p:ext uri="{BB962C8B-B14F-4D97-AF65-F5344CB8AC3E}">
        <p14:creationId xmlns:p14="http://schemas.microsoft.com/office/powerpoint/2010/main" val="9958037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4A221A-2A93-4D88-B9AF-240B69AB2A30}"/>
              </a:ext>
            </a:extLst>
          </p:cNvPr>
          <p:cNvSpPr>
            <a:spLocks xmlns:a="http://schemas.openxmlformats.org/drawingml/2006/main" noGrp="1"/>
          </p:cNvSpPr>
          <p:nvPr/>
        </p:nvSpPr>
        <p:spPr>
          <a:xfrm xmlns:a="http://schemas.openxmlformats.org/drawingml/2006/main">
            <a:off x="609600" y="4000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C1B1F"/>
                </a:solidFill>
                <a:latin typeface="Arial"/>
                <a:ea typeface="Arial"/>
                <a:cs typeface="Arial"/>
              </a:defRPr>
            </a:defPPr>
          </a:lstStyle>
          <a:p xmlns:a="http://schemas.openxmlformats.org/drawingml/2006/main">
            <a:pPr>
              <a:buNone/>
              <a:defRPr sz="3300" b="1">
                <a:solidFill>
                  <a:srgbClr val="1C1B1F"/>
                </a:solidFill>
                <a:latin typeface="Arial"/>
                <a:ea typeface="Arial"/>
                <a:cs typeface="Arial"/>
              </a:defRPr>
            </a:pPr>
            <a:r>
              <a:rPr sz="3300" b="1">
                <a:solidFill>
                  <a:srgbClr val="1C1B1F"/>
                </a:solidFill>
                <a:latin typeface="Arial"/>
                <a:ea typeface="Arial"/>
                <a:cs typeface="Arial"/>
              </a:rPr>
              <a:t>Developer introduction</a:t>
            </a:r>
          </a:p>
        </p:txBody>
      </p:sp>
      <p:sp>
        <p:nvSpPr>
          <p:cNvPr id="2" name="">
            <a:extLst xmlns:a="http://schemas.openxmlformats.org/drawingml/2006/main">
              <a:ext uri="{FF2B5EF4-FFF2-40B4-BE49-F238E27FC236}">
                <a16:creationId xmlns:a16="http://schemas.microsoft.com/office/drawing/2014/main" id="{89DE1337-2C85-4A33-8621-F7CE534C7328}"/>
              </a:ext>
            </a:extLst>
          </p:cNvPr>
          <p:cNvSpPr>
            <a:spLocks xmlns:a="http://schemas.openxmlformats.org/drawingml/2006/main" noGrp="1"/>
          </p:cNvSpPr>
          <p:nvPr/>
        </p:nvSpPr>
        <p:spPr>
          <a:xfrm xmlns:a="http://schemas.openxmlformats.org/drawingml/2006/main">
            <a:off x="685800" y="17145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1C1B1F"/>
                </a:solidFill>
                <a:latin typeface="Arial"/>
                <a:ea typeface="Arial"/>
                <a:cs typeface="Arial"/>
              </a:defRPr>
            </a:defPPr>
          </a:lstStyle>
          <a:p xmlns:a="http://schemas.openxmlformats.org/drawingml/2006/main">
            <a:pPr>
              <a:buNone/>
              <a:defRPr sz="4350" b="1">
                <a:solidFill>
                  <a:srgbClr val="1C1B1F"/>
                </a:solidFill>
                <a:latin typeface="Arial"/>
                <a:ea typeface="Arial"/>
                <a:cs typeface="Arial"/>
              </a:defRPr>
            </a:pPr>
            <a:r>
              <a:rPr sz="4350" b="1">
                <a:solidFill>
                  <a:srgbClr val="1C1B1F"/>
                </a:solidFill>
                <a:latin typeface="Arial"/>
                <a:ea typeface="Arial"/>
                <a:cs typeface="Arial"/>
              </a:rPr>
              <a:t>Mohammed Nasser</a:t>
            </a:r>
          </a:p>
        </p:txBody>
      </p:sp>
      <p:sp>
        <p:nvSpPr>
          <p:cNvPr id="3" name="">
            <a:extLst xmlns:a="http://schemas.openxmlformats.org/drawingml/2006/main">
              <a:ext uri="{FF2B5EF4-FFF2-40B4-BE49-F238E27FC236}">
                <a16:creationId xmlns:a16="http://schemas.microsoft.com/office/drawing/2014/main" id="{92DB422F-1E56-45B8-AD7A-12F40BDE2256}"/>
              </a:ext>
            </a:extLst>
          </p:cNvPr>
          <p:cNvSpPr>
            <a:spLocks xmlns:a="http://schemas.openxmlformats.org/drawingml/2006/main" noGrp="1"/>
          </p:cNvSpPr>
          <p:nvPr/>
        </p:nvSpPr>
        <p:spPr>
          <a:xfrm xmlns:a="http://schemas.openxmlformats.org/drawingml/2006/main">
            <a:off x="685800" y="300037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5E6268"/>
                </a:solidFill>
                <a:latin typeface="Arial"/>
                <a:ea typeface="Arial"/>
                <a:cs typeface="Arial"/>
              </a:defRPr>
            </a:defPPr>
          </a:lstStyle>
          <a:p xmlns:a="http://schemas.openxmlformats.org/drawingml/2006/main">
            <a:pPr>
              <a:buNone/>
              <a:defRPr sz="2400" b="0">
                <a:solidFill>
                  <a:srgbClr val="5E6268"/>
                </a:solidFill>
                <a:latin typeface="Arial"/>
                <a:ea typeface="Arial"/>
                <a:cs typeface="Arial"/>
              </a:defRPr>
            </a:pPr>
            <a:r>
              <a:rPr sz="2400" b="0">
                <a:solidFill>
                  <a:srgbClr val="5E6268"/>
                </a:solidFill>
                <a:latin typeface="Arial"/>
                <a:ea typeface="Arial"/>
                <a:cs typeface="Arial"/>
              </a:rPr>
              <a:t>Flutter development, application architecture and QA</a:t>
            </a:r>
          </a:p>
        </p:txBody>
      </p:sp>
      <p:sp>
        <p:nvSpPr>
          <p:cNvPr id="4" name="">
            <a:extLst xmlns:a="http://schemas.openxmlformats.org/drawingml/2006/main">
              <a:ext uri="{FF2B5EF4-FFF2-40B4-BE49-F238E27FC236}">
                <a16:creationId xmlns:a16="http://schemas.microsoft.com/office/drawing/2014/main" id="{1850C5BF-9491-4915-AA72-C5F4F3AC51A3}"/>
              </a:ext>
            </a:extLst>
          </p:cNvPr>
          <p:cNvSpPr>
            <a:spLocks xmlns:a="http://schemas.openxmlformats.org/drawingml/2006/main" noGrp="1"/>
          </p:cNvSpPr>
          <p:nvPr/>
        </p:nvSpPr>
        <p:spPr>
          <a:xfrm xmlns:a="http://schemas.openxmlformats.org/drawingml/2006/main">
            <a:off x="685800" y="4191000"/>
            <a:ext cx="1047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C1B1F"/>
                </a:solidFill>
                <a:latin typeface="Arial"/>
                <a:ea typeface="Arial"/>
                <a:cs typeface="Arial"/>
              </a:defRPr>
            </a:defPPr>
          </a:lstStyle>
          <a:p xmlns:a="http://schemas.openxmlformats.org/drawingml/2006/main">
            <a:pPr>
              <a:buNone/>
              <a:defRPr sz="2250" b="0">
                <a:solidFill>
                  <a:srgbClr val="1C1B1F"/>
                </a:solidFill>
                <a:latin typeface="Arial"/>
                <a:ea typeface="Arial"/>
                <a:cs typeface="Arial"/>
              </a:defRPr>
            </a:pPr>
            <a:r>
              <a:rPr sz="2250" b="0">
                <a:solidFill>
                  <a:srgbClr val="1C1B1F"/>
                </a:solidFill>
                <a:latin typeface="Arial"/>
                <a:ea typeface="Arial"/>
                <a:cs typeface="Arial"/>
              </a:rPr>
              <a:t>StreetBite brings live recipes, a reactive cart and account features</a:t>
            </a:r>
          </a:p>
          <a:p xmlns:a="http://schemas.openxmlformats.org/drawingml/2006/main">
            <a:pPr>
              <a:buNone/>
              <a:defRPr sz="2250" b="0">
                <a:solidFill>
                  <a:srgbClr val="1C1B1F"/>
                </a:solidFill>
                <a:latin typeface="Arial"/>
                <a:ea typeface="Arial"/>
                <a:cs typeface="Arial"/>
              </a:defRPr>
            </a:pPr>
            <a:r>
              <a:rPr sz="2250" b="0">
                <a:solidFill>
                  <a:srgbClr val="1C1B1F"/>
                </a:solidFill>
                <a:latin typeface="Arial"/>
                <a:ea typeface="Arial"/>
                <a:cs typeface="Arial"/>
              </a:rPr>
              <a:t>into one Arabic and English application.</a:t>
            </a:r>
          </a:p>
        </p:txBody>
      </p:sp>
      <p:sp>
        <p:nvSpPr>
          <p:cNvPr id="5" name="">
            <a:extLst xmlns:a="http://schemas.openxmlformats.org/drawingml/2006/main">
              <a:ext uri="{FF2B5EF4-FFF2-40B4-BE49-F238E27FC236}">
                <a16:creationId xmlns:a16="http://schemas.microsoft.com/office/drawing/2014/main" id="{4F053076-659D-4197-B20B-918788E30FEE}"/>
              </a:ext>
            </a:extLst>
          </p:cNvPr>
          <p:cNvSpPr>
            <a:spLocks xmlns:a="http://schemas.openxmlformats.org/drawingml/2006/main" noGrp="1"/>
          </p:cNvSpPr>
          <p:nvPr/>
        </p:nvSpPr>
        <p:spPr>
          <a:xfrm xmlns:a="http://schemas.openxmlformats.org/drawingml/2006/main">
            <a:off x="685800" y="59626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00854D"/>
                </a:solidFill>
                <a:latin typeface="Arial"/>
                <a:ea typeface="Arial"/>
                <a:cs typeface="Arial"/>
              </a:defRPr>
            </a:defPPr>
          </a:lstStyle>
          <a:p xmlns:a="http://schemas.openxmlformats.org/drawingml/2006/main">
            <a:pPr>
              <a:buNone/>
              <a:defRPr sz="1950" b="0">
                <a:solidFill>
                  <a:srgbClr val="00854D"/>
                </a:solidFill>
                <a:latin typeface="Arial"/>
                <a:ea typeface="Arial"/>
                <a:cs typeface="Arial"/>
              </a:defRPr>
            </a:pPr>
            <a:r>
              <a:rPr sz="1950" b="0">
                <a:solidFill>
                  <a:srgbClr val="00854D"/>
                </a:solidFill>
                <a:latin typeface="Arial"/>
                <a:ea typeface="Arial"/>
                <a:cs typeface="Arial"/>
              </a:rPr>
              <a:t>github.com/MohammedNasser0/streetbite</a:t>
            </a:r>
          </a:p>
        </p:txBody>
      </p:sp>
    </p:spTree>
    <p:extLst>
      <p:ext uri="{BB962C8B-B14F-4D97-AF65-F5344CB8AC3E}">
        <p14:creationId xmlns:p14="http://schemas.microsoft.com/office/powerpoint/2010/main" val="859842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FEE6D03-0E39-4F78-828C-2F73301A9BA0}"/>
              </a:ext>
            </a:extLst>
          </p:cNvPr>
          <p:cNvSpPr>
            <a:spLocks xmlns:a="http://schemas.openxmlformats.org/drawingml/2006/main" noGrp="1"/>
          </p:cNvSpPr>
          <p:nvPr/>
        </p:nvSpPr>
        <p:spPr>
          <a:xfrm xmlns:a="http://schemas.openxmlformats.org/drawingml/2006/main">
            <a:off x="609600" y="4000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C1B1F"/>
                </a:solidFill>
                <a:latin typeface="Arial"/>
                <a:ea typeface="Arial"/>
                <a:cs typeface="Arial"/>
              </a:defRPr>
            </a:defPPr>
          </a:lstStyle>
          <a:p xmlns:a="http://schemas.openxmlformats.org/drawingml/2006/main">
            <a:pPr>
              <a:buNone/>
              <a:defRPr sz="3300" b="1">
                <a:solidFill>
                  <a:srgbClr val="1C1B1F"/>
                </a:solidFill>
                <a:latin typeface="Arial"/>
                <a:ea typeface="Arial"/>
                <a:cs typeface="Arial"/>
              </a:defRPr>
            </a:pPr>
            <a:r>
              <a:rPr sz="3300" b="1">
                <a:solidFill>
                  <a:srgbClr val="1C1B1F"/>
                </a:solidFill>
                <a:latin typeface="Arial"/>
                <a:ea typeface="Arial"/>
                <a:cs typeface="Arial"/>
              </a:rPr>
              <a:t>Development and planning</a:t>
            </a:r>
          </a:p>
        </p:txBody>
      </p:sp>
      <p:sp>
        <p:nvSpPr>
          <p:cNvPr id="2" name="">
            <a:extLst xmlns:a="http://schemas.openxmlformats.org/drawingml/2006/main">
              <a:ext uri="{FF2B5EF4-FFF2-40B4-BE49-F238E27FC236}">
                <a16:creationId xmlns:a16="http://schemas.microsoft.com/office/drawing/2014/main" id="{C01A2931-8786-44E2-8026-D27A141072BD}"/>
              </a:ext>
            </a:extLst>
          </p:cNvPr>
          <p:cNvSpPr>
            <a:spLocks xmlns:a="http://schemas.openxmlformats.org/drawingml/2006/main" noGrp="1"/>
          </p:cNvSpPr>
          <p:nvPr/>
        </p:nvSpPr>
        <p:spPr>
          <a:xfrm xmlns:a="http://schemas.openxmlformats.org/drawingml/2006/main">
            <a:off x="685800" y="147637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00854D"/>
                </a:solidFill>
                <a:latin typeface="Arial"/>
                <a:ea typeface="Arial"/>
                <a:cs typeface="Arial"/>
              </a:defRPr>
            </a:defPPr>
          </a:lstStyle>
          <a:p xmlns:a="http://schemas.openxmlformats.org/drawingml/2006/main">
            <a:pPr>
              <a:buNone/>
              <a:defRPr sz="3000" b="1">
                <a:solidFill>
                  <a:srgbClr val="00854D"/>
                </a:solidFill>
                <a:latin typeface="Arial"/>
                <a:ea typeface="Arial"/>
                <a:cs typeface="Arial"/>
              </a:defRPr>
            </a:pPr>
            <a:r>
              <a:rPr sz="3000" b="1">
                <a:solidFill>
                  <a:srgbClr val="00854D"/>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826428A3-CB95-4FC1-91C8-4E3A8C622C45}"/>
              </a:ext>
            </a:extLst>
          </p:cNvPr>
          <p:cNvSpPr>
            <a:spLocks xmlns:a="http://schemas.openxmlformats.org/drawingml/2006/main" noGrp="1"/>
          </p:cNvSpPr>
          <p:nvPr/>
        </p:nvSpPr>
        <p:spPr>
          <a:xfrm xmlns:a="http://schemas.openxmlformats.org/drawingml/2006/main">
            <a:off x="1809750" y="1476375"/>
            <a:ext cx="952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C1B1F"/>
                </a:solidFill>
                <a:latin typeface="Arial"/>
                <a:ea typeface="Arial"/>
                <a:cs typeface="Arial"/>
              </a:defRPr>
            </a:defPPr>
          </a:lstStyle>
          <a:p xmlns:a="http://schemas.openxmlformats.org/drawingml/2006/main">
            <a:pPr>
              <a:buNone/>
              <a:defRPr sz="2250" b="1">
                <a:solidFill>
                  <a:srgbClr val="1C1B1F"/>
                </a:solidFill>
                <a:latin typeface="Arial"/>
                <a:ea typeface="Arial"/>
                <a:cs typeface="Arial"/>
              </a:defRPr>
            </a:pPr>
            <a:r>
              <a:rPr sz="2250" b="1">
                <a:solidFill>
                  <a:srgbClr val="1C1B1F"/>
                </a:solidFill>
                <a:latin typeface="Arial"/>
                <a:ea typeface="Arial"/>
                <a:cs typeface="Arial"/>
              </a:rPr>
              <a:t>Requirements &amp; design</a:t>
            </a:r>
          </a:p>
        </p:txBody>
      </p:sp>
      <p:sp>
        <p:nvSpPr>
          <p:cNvPr id="4" name="">
            <a:extLst xmlns:a="http://schemas.openxmlformats.org/drawingml/2006/main">
              <a:ext uri="{FF2B5EF4-FFF2-40B4-BE49-F238E27FC236}">
                <a16:creationId xmlns:a16="http://schemas.microsoft.com/office/drawing/2014/main" id="{C29F9FED-7E8F-4D47-B6AA-6F633161D79C}"/>
              </a:ext>
            </a:extLst>
          </p:cNvPr>
          <p:cNvSpPr>
            <a:spLocks xmlns:a="http://schemas.openxmlformats.org/drawingml/2006/main" noGrp="1"/>
          </p:cNvSpPr>
          <p:nvPr/>
        </p:nvSpPr>
        <p:spPr>
          <a:xfrm xmlns:a="http://schemas.openxmlformats.org/drawingml/2006/main">
            <a:off x="1809750" y="2038350"/>
            <a:ext cx="9525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E6268"/>
                </a:solidFill>
                <a:latin typeface="Arial"/>
                <a:ea typeface="Arial"/>
                <a:cs typeface="Arial"/>
              </a:defRPr>
            </a:defPPr>
          </a:lstStyle>
          <a:p xmlns:a="http://schemas.openxmlformats.org/drawingml/2006/main">
            <a:pPr>
              <a:buNone/>
              <a:defRPr sz="1875" b="0">
                <a:solidFill>
                  <a:srgbClr val="5E6268"/>
                </a:solidFill>
                <a:latin typeface="Arial"/>
                <a:ea typeface="Arial"/>
                <a:cs typeface="Arial"/>
              </a:defRPr>
            </a:pPr>
            <a:r>
              <a:rPr sz="1875" b="0">
                <a:solidFill>
                  <a:srgbClr val="5E6268"/>
                </a:solidFill>
                <a:latin typeface="Arial"/>
                <a:ea typeface="Arial"/>
                <a:cs typeface="Arial"/>
              </a:rPr>
              <a:t>Map the assignment to screens, integrations and acceptance evidence.</a:t>
            </a:r>
          </a:p>
          <a:p xmlns:a="http://schemas.openxmlformats.org/drawingml/2006/main">
            <a:pPr>
              <a:buNone/>
              <a:defRPr sz="1875" b="0">
                <a:solidFill>
                  <a:srgbClr val="5E6268"/>
                </a:solidFill>
                <a:latin typeface="Arial"/>
                <a:ea typeface="Arial"/>
                <a:cs typeface="Arial"/>
              </a:defRPr>
            </a:pPr>
            <a:r>
              <a:rPr sz="1875" b="0">
                <a:solidFill>
                  <a:srgbClr val="5E6268"/>
                </a:solidFill>
                <a:latin typeface="Arial"/>
                <a:ea typeface="Arial"/>
                <a:cs typeface="Arial"/>
              </a:rPr>
              <a:t>Inspect the supplied Figma frames and preserve the green delivery brand.</a:t>
            </a:r>
          </a:p>
        </p:txBody>
      </p:sp>
      <p:sp>
        <p:nvSpPr>
          <p:cNvPr id="5" name="">
            <a:extLst xmlns:a="http://schemas.openxmlformats.org/drawingml/2006/main">
              <a:ext uri="{FF2B5EF4-FFF2-40B4-BE49-F238E27FC236}">
                <a16:creationId xmlns:a16="http://schemas.microsoft.com/office/drawing/2014/main" id="{EE60D6B8-8C27-436C-A6FF-6ABAA11685ED}"/>
              </a:ext>
            </a:extLst>
          </p:cNvPr>
          <p:cNvSpPr>
            <a:spLocks xmlns:a="http://schemas.openxmlformats.org/drawingml/2006/main" noGrp="1"/>
          </p:cNvSpPr>
          <p:nvPr/>
        </p:nvSpPr>
        <p:spPr>
          <a:xfrm xmlns:a="http://schemas.openxmlformats.org/drawingml/2006/main">
            <a:off x="685800" y="309562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00854D"/>
                </a:solidFill>
                <a:latin typeface="Arial"/>
                <a:ea typeface="Arial"/>
                <a:cs typeface="Arial"/>
              </a:defRPr>
            </a:defPPr>
          </a:lstStyle>
          <a:p xmlns:a="http://schemas.openxmlformats.org/drawingml/2006/main">
            <a:pPr>
              <a:buNone/>
              <a:defRPr sz="3000" b="1">
                <a:solidFill>
                  <a:srgbClr val="00854D"/>
                </a:solidFill>
                <a:latin typeface="Arial"/>
                <a:ea typeface="Arial"/>
                <a:cs typeface="Arial"/>
              </a:defRPr>
            </a:pPr>
            <a:r>
              <a:rPr sz="3000" b="1">
                <a:solidFill>
                  <a:srgbClr val="00854D"/>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01DE1D17-FED6-45C0-8435-FCEE5178DD40}"/>
              </a:ext>
            </a:extLst>
          </p:cNvPr>
          <p:cNvSpPr>
            <a:spLocks xmlns:a="http://schemas.openxmlformats.org/drawingml/2006/main" noGrp="1"/>
          </p:cNvSpPr>
          <p:nvPr/>
        </p:nvSpPr>
        <p:spPr>
          <a:xfrm xmlns:a="http://schemas.openxmlformats.org/drawingml/2006/main">
            <a:off x="1809750" y="3095625"/>
            <a:ext cx="952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C1B1F"/>
                </a:solidFill>
                <a:latin typeface="Arial"/>
                <a:ea typeface="Arial"/>
                <a:cs typeface="Arial"/>
              </a:defRPr>
            </a:defPPr>
          </a:lstStyle>
          <a:p xmlns:a="http://schemas.openxmlformats.org/drawingml/2006/main">
            <a:pPr>
              <a:buNone/>
              <a:defRPr sz="2250" b="1">
                <a:solidFill>
                  <a:srgbClr val="1C1B1F"/>
                </a:solidFill>
                <a:latin typeface="Arial"/>
                <a:ea typeface="Arial"/>
                <a:cs typeface="Arial"/>
              </a:defRPr>
            </a:pPr>
            <a:r>
              <a:rPr sz="2250" b="1">
                <a:solidFill>
                  <a:srgbClr val="1C1B1F"/>
                </a:solidFill>
                <a:latin typeface="Arial"/>
                <a:ea typeface="Arial"/>
                <a:cs typeface="Arial"/>
              </a:rPr>
              <a:t>Application implementation</a:t>
            </a:r>
          </a:p>
        </p:txBody>
      </p:sp>
      <p:sp>
        <p:nvSpPr>
          <p:cNvPr id="7" name="">
            <a:extLst xmlns:a="http://schemas.openxmlformats.org/drawingml/2006/main">
              <a:ext uri="{FF2B5EF4-FFF2-40B4-BE49-F238E27FC236}">
                <a16:creationId xmlns:a16="http://schemas.microsoft.com/office/drawing/2014/main" id="{0ECD45A2-EFC2-4E0E-A07D-371E8CC9B994}"/>
              </a:ext>
            </a:extLst>
          </p:cNvPr>
          <p:cNvSpPr>
            <a:spLocks xmlns:a="http://schemas.openxmlformats.org/drawingml/2006/main" noGrp="1"/>
          </p:cNvSpPr>
          <p:nvPr/>
        </p:nvSpPr>
        <p:spPr>
          <a:xfrm xmlns:a="http://schemas.openxmlformats.org/drawingml/2006/main">
            <a:off x="1809750" y="3657600"/>
            <a:ext cx="9525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E6268"/>
                </a:solidFill>
                <a:latin typeface="Arial"/>
                <a:ea typeface="Arial"/>
                <a:cs typeface="Arial"/>
              </a:defRPr>
            </a:defPPr>
          </a:lstStyle>
          <a:p xmlns:a="http://schemas.openxmlformats.org/drawingml/2006/main">
            <a:pPr>
              <a:buNone/>
              <a:defRPr sz="1875" b="0">
                <a:solidFill>
                  <a:srgbClr val="5E6268"/>
                </a:solidFill>
                <a:latin typeface="Arial"/>
                <a:ea typeface="Arial"/>
                <a:cs typeface="Arial"/>
              </a:defRPr>
            </a:pPr>
            <a:r>
              <a:rPr sz="1875" b="0">
                <a:solidFill>
                  <a:srgbClr val="5E6268"/>
                </a:solidFill>
                <a:latin typeface="Arial"/>
                <a:ea typeface="Arial"/>
                <a:cs typeface="Arial"/>
              </a:rPr>
              <a:t>Build the domain contracts, repositories, BLoCs and bilingual screens.</a:t>
            </a:r>
          </a:p>
          <a:p xmlns:a="http://schemas.openxmlformats.org/drawingml/2006/main">
            <a:pPr>
              <a:buNone/>
              <a:defRPr sz="1875" b="0">
                <a:solidFill>
                  <a:srgbClr val="5E6268"/>
                </a:solidFill>
                <a:latin typeface="Arial"/>
                <a:ea typeface="Arial"/>
                <a:cs typeface="Arial"/>
              </a:defRPr>
            </a:pPr>
            <a:r>
              <a:rPr sz="1875" b="0">
                <a:solidFill>
                  <a:srgbClr val="5E6268"/>
                </a:solidFill>
                <a:latin typeface="Arial"/>
                <a:ea typeface="Arial"/>
                <a:cs typeface="Arial"/>
              </a:rPr>
              <a:t>Connect live recipes, local caching, Firebase accounts and demo orders.</a:t>
            </a:r>
          </a:p>
        </p:txBody>
      </p:sp>
      <p:sp>
        <p:nvSpPr>
          <p:cNvPr id="8" name="">
            <a:extLst xmlns:a="http://schemas.openxmlformats.org/drawingml/2006/main">
              <a:ext uri="{FF2B5EF4-FFF2-40B4-BE49-F238E27FC236}">
                <a16:creationId xmlns:a16="http://schemas.microsoft.com/office/drawing/2014/main" id="{F2D98571-6601-47F8-8ECC-EFFD12B19AAB}"/>
              </a:ext>
            </a:extLst>
          </p:cNvPr>
          <p:cNvSpPr>
            <a:spLocks xmlns:a="http://schemas.openxmlformats.org/drawingml/2006/main" noGrp="1"/>
          </p:cNvSpPr>
          <p:nvPr/>
        </p:nvSpPr>
        <p:spPr>
          <a:xfrm xmlns:a="http://schemas.openxmlformats.org/drawingml/2006/main">
            <a:off x="685800" y="471487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00854D"/>
                </a:solidFill>
                <a:latin typeface="Arial"/>
                <a:ea typeface="Arial"/>
                <a:cs typeface="Arial"/>
              </a:defRPr>
            </a:defPPr>
          </a:lstStyle>
          <a:p xmlns:a="http://schemas.openxmlformats.org/drawingml/2006/main">
            <a:pPr>
              <a:buNone/>
              <a:defRPr sz="3000" b="1">
                <a:solidFill>
                  <a:srgbClr val="00854D"/>
                </a:solidFill>
                <a:latin typeface="Arial"/>
                <a:ea typeface="Arial"/>
                <a:cs typeface="Arial"/>
              </a:defRPr>
            </a:pPr>
            <a:r>
              <a:rPr sz="3000" b="1">
                <a:solidFill>
                  <a:srgbClr val="00854D"/>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B224C024-DC9D-4A07-86A4-6CAC2ED69721}"/>
              </a:ext>
            </a:extLst>
          </p:cNvPr>
          <p:cNvSpPr>
            <a:spLocks xmlns:a="http://schemas.openxmlformats.org/drawingml/2006/main" noGrp="1"/>
          </p:cNvSpPr>
          <p:nvPr/>
        </p:nvSpPr>
        <p:spPr>
          <a:xfrm xmlns:a="http://schemas.openxmlformats.org/drawingml/2006/main">
            <a:off x="1809750" y="4714875"/>
            <a:ext cx="952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C1B1F"/>
                </a:solidFill>
                <a:latin typeface="Arial"/>
                <a:ea typeface="Arial"/>
                <a:cs typeface="Arial"/>
              </a:defRPr>
            </a:defPPr>
          </a:lstStyle>
          <a:p xmlns:a="http://schemas.openxmlformats.org/drawingml/2006/main">
            <a:pPr>
              <a:buNone/>
              <a:defRPr sz="2250" b="1">
                <a:solidFill>
                  <a:srgbClr val="1C1B1F"/>
                </a:solidFill>
                <a:latin typeface="Arial"/>
                <a:ea typeface="Arial"/>
                <a:cs typeface="Arial"/>
              </a:defRPr>
            </a:pPr>
            <a:r>
              <a:rPr sz="2250" b="1">
                <a:solidFill>
                  <a:srgbClr val="1C1B1F"/>
                </a:solidFill>
                <a:latin typeface="Arial"/>
                <a:ea typeface="Arial"/>
                <a:cs typeface="Arial"/>
              </a:rPr>
              <a:t>Verification &amp; beta delivery</a:t>
            </a:r>
          </a:p>
        </p:txBody>
      </p:sp>
      <p:sp>
        <p:nvSpPr>
          <p:cNvPr id="10" name="">
            <a:extLst xmlns:a="http://schemas.openxmlformats.org/drawingml/2006/main">
              <a:ext uri="{FF2B5EF4-FFF2-40B4-BE49-F238E27FC236}">
                <a16:creationId xmlns:a16="http://schemas.microsoft.com/office/drawing/2014/main" id="{104D8B03-AC7F-4036-9B27-48BDE3C48846}"/>
              </a:ext>
            </a:extLst>
          </p:cNvPr>
          <p:cNvSpPr>
            <a:spLocks xmlns:a="http://schemas.openxmlformats.org/drawingml/2006/main" noGrp="1"/>
          </p:cNvSpPr>
          <p:nvPr/>
        </p:nvSpPr>
        <p:spPr>
          <a:xfrm xmlns:a="http://schemas.openxmlformats.org/drawingml/2006/main">
            <a:off x="1809750" y="5276850"/>
            <a:ext cx="9525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E6268"/>
                </a:solidFill>
                <a:latin typeface="Arial"/>
                <a:ea typeface="Arial"/>
                <a:cs typeface="Arial"/>
              </a:defRPr>
            </a:defPPr>
          </a:lstStyle>
          <a:p xmlns:a="http://schemas.openxmlformats.org/drawingml/2006/main">
            <a:pPr>
              <a:buNone/>
              <a:defRPr sz="1875" b="0">
                <a:solidFill>
                  <a:srgbClr val="5E6268"/>
                </a:solidFill>
                <a:latin typeface="Arial"/>
                <a:ea typeface="Arial"/>
                <a:cs typeface="Arial"/>
              </a:defRPr>
            </a:pPr>
            <a:r>
              <a:rPr sz="1875" b="0">
                <a:solidFill>
                  <a:srgbClr val="5E6268"/>
                </a:solidFill>
                <a:latin typeface="Arial"/>
                <a:ea typeface="Arial"/>
                <a:cs typeface="Arial"/>
              </a:rPr>
              <a:t>Verify the core flows on emulator and physical Android.</a:t>
            </a:r>
          </a:p>
          <a:p xmlns:a="http://schemas.openxmlformats.org/drawingml/2006/main">
            <a:pPr>
              <a:buNone/>
              <a:defRPr sz="1875" b="0">
                <a:solidFill>
                  <a:srgbClr val="5E6268"/>
                </a:solidFill>
                <a:latin typeface="Arial"/>
                <a:ea typeface="Arial"/>
                <a:cs typeface="Arial"/>
              </a:defRPr>
            </a:pPr>
            <a:r>
              <a:rPr sz="1875" b="0">
                <a:solidFill>
                  <a:srgbClr val="5E6268"/>
                </a:solidFill>
                <a:latin typeface="Arial"/>
                <a:ea typeface="Arial"/>
                <a:cs typeface="Arial"/>
              </a:rPr>
              <a:t>Document beta delivery and distinguish optional QA evidence.</a:t>
            </a:r>
          </a:p>
        </p:txBody>
      </p:sp>
    </p:spTree>
    <p:extLst>
      <p:ext uri="{BB962C8B-B14F-4D97-AF65-F5344CB8AC3E}">
        <p14:creationId xmlns:p14="http://schemas.microsoft.com/office/powerpoint/2010/main" val="20316540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CA093C6-386B-47B7-99C3-370EB37FC68A}"/>
              </a:ext>
            </a:extLst>
          </p:cNvPr>
          <p:cNvSpPr>
            <a:spLocks xmlns:a="http://schemas.openxmlformats.org/drawingml/2006/main" noGrp="1"/>
          </p:cNvSpPr>
          <p:nvPr/>
        </p:nvSpPr>
        <p:spPr>
          <a:xfrm xmlns:a="http://schemas.openxmlformats.org/drawingml/2006/main">
            <a:off x="609600" y="4000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C1B1F"/>
                </a:solidFill>
                <a:latin typeface="Arial"/>
                <a:ea typeface="Arial"/>
                <a:cs typeface="Arial"/>
              </a:defRPr>
            </a:defPPr>
          </a:lstStyle>
          <a:p xmlns:a="http://schemas.openxmlformats.org/drawingml/2006/main">
            <a:pPr>
              <a:buNone/>
              <a:defRPr sz="3300" b="1">
                <a:solidFill>
                  <a:srgbClr val="1C1B1F"/>
                </a:solidFill>
                <a:latin typeface="Arial"/>
                <a:ea typeface="Arial"/>
                <a:cs typeface="Arial"/>
              </a:defRPr>
            </a:pPr>
            <a:r>
              <a:rPr sz="3300" b="1">
                <a:solidFill>
                  <a:srgbClr val="1C1B1F"/>
                </a:solidFill>
                <a:latin typeface="Arial"/>
                <a:ea typeface="Arial"/>
                <a:cs typeface="Arial"/>
              </a:rPr>
              <a:t>Application architecture</a:t>
            </a:r>
          </a:p>
        </p:txBody>
      </p:sp>
      <p:sp>
        <p:nvSpPr>
          <p:cNvPr id="2" name="">
            <a:extLst xmlns:a="http://schemas.openxmlformats.org/drawingml/2006/main">
              <a:ext uri="{FF2B5EF4-FFF2-40B4-BE49-F238E27FC236}">
                <a16:creationId xmlns:a16="http://schemas.microsoft.com/office/drawing/2014/main" id="{DF8B44AE-BA14-4EE7-88AB-D79BA657BEBE}"/>
              </a:ext>
            </a:extLst>
          </p:cNvPr>
          <p:cNvSpPr>
            <a:spLocks xmlns:a="http://schemas.openxmlformats.org/drawingml/2006/main" noGrp="1"/>
          </p:cNvSpPr>
          <p:nvPr/>
        </p:nvSpPr>
        <p:spPr>
          <a:xfrm xmlns:a="http://schemas.openxmlformats.org/drawingml/2006/main">
            <a:off x="685800" y="1619250"/>
            <a:ext cx="2428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854D"/>
                </a:solidFill>
                <a:latin typeface="Arial"/>
                <a:ea typeface="Arial"/>
                <a:cs typeface="Arial"/>
              </a:defRPr>
            </a:defPPr>
          </a:lstStyle>
          <a:p xmlns:a="http://schemas.openxmlformats.org/drawingml/2006/main">
            <a:pPr>
              <a:buNone/>
              <a:defRPr sz="2400" b="1">
                <a:solidFill>
                  <a:srgbClr val="00854D"/>
                </a:solidFill>
                <a:latin typeface="Arial"/>
                <a:ea typeface="Arial"/>
                <a:cs typeface="Arial"/>
              </a:defRPr>
            </a:pPr>
            <a:r>
              <a:rPr sz="2400" b="1">
                <a:solidFill>
                  <a:srgbClr val="00854D"/>
                </a:solidFill>
                <a:latin typeface="Arial"/>
                <a:ea typeface="Arial"/>
                <a:cs typeface="Arial"/>
              </a:rPr>
              <a:t>Presentation</a:t>
            </a:r>
          </a:p>
        </p:txBody>
      </p:sp>
      <p:sp>
        <p:nvSpPr>
          <p:cNvPr id="3" name="">
            <a:extLst xmlns:a="http://schemas.openxmlformats.org/drawingml/2006/main">
              <a:ext uri="{FF2B5EF4-FFF2-40B4-BE49-F238E27FC236}">
                <a16:creationId xmlns:a16="http://schemas.microsoft.com/office/drawing/2014/main" id="{1B027CBC-0069-4691-9B3D-BB4E57BE0DC0}"/>
              </a:ext>
            </a:extLst>
          </p:cNvPr>
          <p:cNvSpPr>
            <a:spLocks xmlns:a="http://schemas.openxmlformats.org/drawingml/2006/main" noGrp="1"/>
          </p:cNvSpPr>
          <p:nvPr/>
        </p:nvSpPr>
        <p:spPr>
          <a:xfrm xmlns:a="http://schemas.openxmlformats.org/drawingml/2006/main">
            <a:off x="3476625" y="1619250"/>
            <a:ext cx="781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C1B1F"/>
                </a:solidFill>
                <a:latin typeface="Arial"/>
                <a:ea typeface="Arial"/>
                <a:cs typeface="Arial"/>
              </a:defRPr>
            </a:defPPr>
          </a:lstStyle>
          <a:p xmlns:a="http://schemas.openxmlformats.org/drawingml/2006/main">
            <a:pPr>
              <a:buNone/>
              <a:defRPr sz="2025" b="0">
                <a:solidFill>
                  <a:srgbClr val="1C1B1F"/>
                </a:solidFill>
                <a:latin typeface="Arial"/>
                <a:ea typeface="Arial"/>
                <a:cs typeface="Arial"/>
              </a:defRPr>
            </a:pPr>
            <a:r>
              <a:rPr sz="2025" b="0">
                <a:solidFill>
                  <a:srgbClr val="1C1B1F"/>
                </a:solidFill>
                <a:latin typeface="Arial"/>
                <a:ea typeface="Arial"/>
                <a:cs typeface="Arial"/>
              </a:rPr>
              <a:t>Screens and reusable widgets</a:t>
            </a:r>
          </a:p>
          <a:p xmlns:a="http://schemas.openxmlformats.org/drawingml/2006/main">
            <a:pPr>
              <a:buNone/>
              <a:defRPr sz="2025" b="0">
                <a:solidFill>
                  <a:srgbClr val="1C1B1F"/>
                </a:solidFill>
                <a:latin typeface="Arial"/>
                <a:ea typeface="Arial"/>
                <a:cs typeface="Arial"/>
              </a:defRPr>
            </a:pPr>
            <a:r>
              <a:rPr sz="2025" b="0">
                <a:solidFill>
                  <a:srgbClr val="1C1B1F"/>
                </a:solidFill>
                <a:latin typeface="Arial"/>
                <a:ea typeface="Arial"/>
                <a:cs typeface="Arial"/>
              </a:rPr>
              <a:t>AuthCubit, MenuCubit, CartBloc, ThemeBloc and LocaleCubit</a:t>
            </a:r>
          </a:p>
        </p:txBody>
      </p:sp>
      <p:sp>
        <p:nvSpPr>
          <p:cNvPr id="4" name="">
            <a:extLst xmlns:a="http://schemas.openxmlformats.org/drawingml/2006/main">
              <a:ext uri="{FF2B5EF4-FFF2-40B4-BE49-F238E27FC236}">
                <a16:creationId xmlns:a16="http://schemas.microsoft.com/office/drawing/2014/main" id="{8FF1A41A-97BE-499D-905D-5AD10B962150}"/>
              </a:ext>
            </a:extLst>
          </p:cNvPr>
          <p:cNvSpPr>
            <a:spLocks xmlns:a="http://schemas.openxmlformats.org/drawingml/2006/main" noGrp="1"/>
          </p:cNvSpPr>
          <p:nvPr/>
        </p:nvSpPr>
        <p:spPr>
          <a:xfrm xmlns:a="http://schemas.openxmlformats.org/drawingml/2006/main">
            <a:off x="685800" y="3000375"/>
            <a:ext cx="2428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854D"/>
                </a:solidFill>
                <a:latin typeface="Arial"/>
                <a:ea typeface="Arial"/>
                <a:cs typeface="Arial"/>
              </a:defRPr>
            </a:defPPr>
          </a:lstStyle>
          <a:p xmlns:a="http://schemas.openxmlformats.org/drawingml/2006/main">
            <a:pPr>
              <a:buNone/>
              <a:defRPr sz="2400" b="1">
                <a:solidFill>
                  <a:srgbClr val="00854D"/>
                </a:solidFill>
                <a:latin typeface="Arial"/>
                <a:ea typeface="Arial"/>
                <a:cs typeface="Arial"/>
              </a:defRPr>
            </a:pPr>
            <a:r>
              <a:rPr sz="2400" b="1">
                <a:solidFill>
                  <a:srgbClr val="00854D"/>
                </a:solidFill>
                <a:latin typeface="Arial"/>
                <a:ea typeface="Arial"/>
                <a:cs typeface="Arial"/>
              </a:rPr>
              <a:t>Domain</a:t>
            </a:r>
          </a:p>
        </p:txBody>
      </p:sp>
      <p:sp>
        <p:nvSpPr>
          <p:cNvPr id="5" name="">
            <a:extLst xmlns:a="http://schemas.openxmlformats.org/drawingml/2006/main">
              <a:ext uri="{FF2B5EF4-FFF2-40B4-BE49-F238E27FC236}">
                <a16:creationId xmlns:a16="http://schemas.microsoft.com/office/drawing/2014/main" id="{A92610E0-D0A3-4DB0-A025-53EE25949771}"/>
              </a:ext>
            </a:extLst>
          </p:cNvPr>
          <p:cNvSpPr>
            <a:spLocks xmlns:a="http://schemas.openxmlformats.org/drawingml/2006/main" noGrp="1"/>
          </p:cNvSpPr>
          <p:nvPr/>
        </p:nvSpPr>
        <p:spPr>
          <a:xfrm xmlns:a="http://schemas.openxmlformats.org/drawingml/2006/main">
            <a:off x="3476625" y="3000375"/>
            <a:ext cx="781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C1B1F"/>
                </a:solidFill>
                <a:latin typeface="Arial"/>
                <a:ea typeface="Arial"/>
                <a:cs typeface="Arial"/>
              </a:defRPr>
            </a:defPPr>
          </a:lstStyle>
          <a:p xmlns:a="http://schemas.openxmlformats.org/drawingml/2006/main">
            <a:pPr>
              <a:buNone/>
              <a:defRPr sz="2025" b="0">
                <a:solidFill>
                  <a:srgbClr val="1C1B1F"/>
                </a:solidFill>
                <a:latin typeface="Arial"/>
                <a:ea typeface="Arial"/>
                <a:cs typeface="Arial"/>
              </a:defRPr>
            </a:pPr>
            <a:r>
              <a:rPr sz="2025" b="0">
                <a:solidFill>
                  <a:srgbClr val="1C1B1F"/>
                </a:solidFill>
                <a:latin typeface="Arial"/>
                <a:ea typeface="Arial"/>
                <a:cs typeface="Arial"/>
              </a:rPr>
              <a:t>Entities, repository contracts and use cases</a:t>
            </a:r>
          </a:p>
          <a:p xmlns:a="http://schemas.openxmlformats.org/drawingml/2006/main">
            <a:pPr>
              <a:buNone/>
              <a:defRPr sz="2025" b="0">
                <a:solidFill>
                  <a:srgbClr val="1C1B1F"/>
                </a:solidFill>
                <a:latin typeface="Arial"/>
                <a:ea typeface="Arial"/>
                <a:cs typeface="Arial"/>
              </a:defRPr>
            </a:pPr>
            <a:r>
              <a:rPr sz="2025" b="0">
                <a:solidFill>
                  <a:srgbClr val="1C1B1F"/>
                </a:solidFill>
                <a:latin typeface="Arial"/>
                <a:ea typeface="Arial"/>
                <a:cs typeface="Arial"/>
              </a:rPr>
              <a:t>SearchMeals, PlaceOrder, cash and demo-card payment strategies</a:t>
            </a:r>
          </a:p>
        </p:txBody>
      </p:sp>
      <p:sp>
        <p:nvSpPr>
          <p:cNvPr id="6" name="">
            <a:extLst xmlns:a="http://schemas.openxmlformats.org/drawingml/2006/main">
              <a:ext uri="{FF2B5EF4-FFF2-40B4-BE49-F238E27FC236}">
                <a16:creationId xmlns:a16="http://schemas.microsoft.com/office/drawing/2014/main" id="{C90AF24F-C148-488A-A646-5E09FEFCE036}"/>
              </a:ext>
            </a:extLst>
          </p:cNvPr>
          <p:cNvSpPr>
            <a:spLocks xmlns:a="http://schemas.openxmlformats.org/drawingml/2006/main" noGrp="1"/>
          </p:cNvSpPr>
          <p:nvPr/>
        </p:nvSpPr>
        <p:spPr>
          <a:xfrm xmlns:a="http://schemas.openxmlformats.org/drawingml/2006/main">
            <a:off x="685800" y="4381500"/>
            <a:ext cx="2428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854D"/>
                </a:solidFill>
                <a:latin typeface="Arial"/>
                <a:ea typeface="Arial"/>
                <a:cs typeface="Arial"/>
              </a:defRPr>
            </a:defPPr>
          </a:lstStyle>
          <a:p xmlns:a="http://schemas.openxmlformats.org/drawingml/2006/main">
            <a:pPr>
              <a:buNone/>
              <a:defRPr sz="2400" b="1">
                <a:solidFill>
                  <a:srgbClr val="00854D"/>
                </a:solidFill>
                <a:latin typeface="Arial"/>
                <a:ea typeface="Arial"/>
                <a:cs typeface="Arial"/>
              </a:defRPr>
            </a:pPr>
            <a:r>
              <a:rPr sz="2400" b="1">
                <a:solidFill>
                  <a:srgbClr val="00854D"/>
                </a:solidFill>
                <a:latin typeface="Arial"/>
                <a:ea typeface="Arial"/>
                <a:cs typeface="Arial"/>
              </a:rPr>
              <a:t>Data</a:t>
            </a:r>
          </a:p>
        </p:txBody>
      </p:sp>
      <p:sp>
        <p:nvSpPr>
          <p:cNvPr id="7" name="">
            <a:extLst xmlns:a="http://schemas.openxmlformats.org/drawingml/2006/main">
              <a:ext uri="{FF2B5EF4-FFF2-40B4-BE49-F238E27FC236}">
                <a16:creationId xmlns:a16="http://schemas.microsoft.com/office/drawing/2014/main" id="{60059D1E-E69C-49A9-8541-52BC40B848FD}"/>
              </a:ext>
            </a:extLst>
          </p:cNvPr>
          <p:cNvSpPr>
            <a:spLocks xmlns:a="http://schemas.openxmlformats.org/drawingml/2006/main" noGrp="1"/>
          </p:cNvSpPr>
          <p:nvPr/>
        </p:nvSpPr>
        <p:spPr>
          <a:xfrm xmlns:a="http://schemas.openxmlformats.org/drawingml/2006/main">
            <a:off x="3476625" y="4381500"/>
            <a:ext cx="781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C1B1F"/>
                </a:solidFill>
                <a:latin typeface="Arial"/>
                <a:ea typeface="Arial"/>
                <a:cs typeface="Arial"/>
              </a:defRPr>
            </a:defPPr>
          </a:lstStyle>
          <a:p xmlns:a="http://schemas.openxmlformats.org/drawingml/2006/main">
            <a:pPr>
              <a:buNone/>
              <a:defRPr sz="2025" b="0">
                <a:solidFill>
                  <a:srgbClr val="1C1B1F"/>
                </a:solidFill>
                <a:latin typeface="Arial"/>
                <a:ea typeface="Arial"/>
                <a:cs typeface="Arial"/>
              </a:defRPr>
            </a:pPr>
            <a:r>
              <a:rPr sz="2025" b="0">
                <a:solidFill>
                  <a:srgbClr val="1C1B1F"/>
                </a:solidFill>
                <a:latin typeface="Arial"/>
                <a:ea typeface="Arial"/>
                <a:cs typeface="Arial"/>
              </a:rPr>
              <a:t>Dio remote source, shared_preferences cache and JSON models</a:t>
            </a:r>
          </a:p>
          <a:p xmlns:a="http://schemas.openxmlformats.org/drawingml/2006/main">
            <a:pPr>
              <a:buNone/>
              <a:defRPr sz="2025" b="0">
                <a:solidFill>
                  <a:srgbClr val="1C1B1F"/>
                </a:solidFill>
                <a:latin typeface="Arial"/>
                <a:ea typeface="Arial"/>
                <a:cs typeface="Arial"/>
              </a:defRPr>
            </a:pPr>
            <a:r>
              <a:rPr sz="2025" b="0">
                <a:solidFill>
                  <a:srgbClr val="1C1B1F"/>
                </a:solidFill>
                <a:latin typeface="Arial"/>
                <a:ea typeface="Arial"/>
                <a:cs typeface="Arial"/>
              </a:rPr>
              <a:t>Firebase repositories and the Firestore service</a:t>
            </a:r>
          </a:p>
        </p:txBody>
      </p:sp>
      <p:sp>
        <p:nvSpPr>
          <p:cNvPr id="8" name="">
            <a:extLst xmlns:a="http://schemas.openxmlformats.org/drawingml/2006/main">
              <a:ext uri="{FF2B5EF4-FFF2-40B4-BE49-F238E27FC236}">
                <a16:creationId xmlns:a16="http://schemas.microsoft.com/office/drawing/2014/main" id="{64A9D759-4043-4B56-9BC2-76317911FD83}"/>
              </a:ext>
            </a:extLst>
          </p:cNvPr>
          <p:cNvSpPr>
            <a:spLocks xmlns:a="http://schemas.openxmlformats.org/drawingml/2006/main" noGrp="1"/>
          </p:cNvSpPr>
          <p:nvPr/>
        </p:nvSpPr>
        <p:spPr>
          <a:xfrm xmlns:a="http://schemas.openxmlformats.org/drawingml/2006/main">
            <a:off x="685800" y="61341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E6268"/>
                </a:solidFill>
                <a:latin typeface="Arial"/>
                <a:ea typeface="Arial"/>
                <a:cs typeface="Arial"/>
              </a:defRPr>
            </a:defPPr>
          </a:lstStyle>
          <a:p xmlns:a="http://schemas.openxmlformats.org/drawingml/2006/main">
            <a:pPr>
              <a:buNone/>
              <a:defRPr sz="1725" b="0">
                <a:solidFill>
                  <a:srgbClr val="5E6268"/>
                </a:solidFill>
                <a:latin typeface="Arial"/>
                <a:ea typeface="Arial"/>
                <a:cs typeface="Arial"/>
              </a:defRPr>
            </a:pPr>
            <a:r>
              <a:rPr sz="1725" b="0">
                <a:solidFill>
                  <a:srgbClr val="5E6268"/>
                </a:solidFill>
                <a:latin typeface="Arial"/>
                <a:ea typeface="Arial"/>
                <a:cs typeface="Arial"/>
              </a:rPr>
              <a:t>GetIt dependencies · Builder profiles · Factory sources · Singleton Firestore</a:t>
            </a:r>
          </a:p>
        </p:txBody>
      </p:sp>
    </p:spTree>
    <p:extLst>
      <p:ext uri="{BB962C8B-B14F-4D97-AF65-F5344CB8AC3E}">
        <p14:creationId xmlns:p14="http://schemas.microsoft.com/office/powerpoint/2010/main" val="6089138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21A700-D82A-4BF0-AA1D-7AE572AD70CB}"/>
              </a:ext>
            </a:extLst>
          </p:cNvPr>
          <p:cNvSpPr>
            <a:spLocks xmlns:a="http://schemas.openxmlformats.org/drawingml/2006/main" noGrp="1"/>
          </p:cNvSpPr>
          <p:nvPr/>
        </p:nvSpPr>
        <p:spPr>
          <a:xfrm xmlns:a="http://schemas.openxmlformats.org/drawingml/2006/main">
            <a:off x="609600" y="4000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C1B1F"/>
                </a:solidFill>
                <a:latin typeface="Arial"/>
                <a:ea typeface="Arial"/>
                <a:cs typeface="Arial"/>
              </a:defRPr>
            </a:defPPr>
          </a:lstStyle>
          <a:p xmlns:a="http://schemas.openxmlformats.org/drawingml/2006/main">
            <a:pPr>
              <a:buNone/>
              <a:defRPr sz="3300" b="1">
                <a:solidFill>
                  <a:srgbClr val="1C1B1F"/>
                </a:solidFill>
                <a:latin typeface="Arial"/>
                <a:ea typeface="Arial"/>
                <a:cs typeface="Arial"/>
              </a:defRPr>
            </a:pPr>
            <a:r>
              <a:rPr sz="3300" b="1">
                <a:solidFill>
                  <a:srgbClr val="1C1B1F"/>
                </a:solidFill>
                <a:latin typeface="Arial"/>
                <a:ea typeface="Arial"/>
                <a:cs typeface="Arial"/>
              </a:rPr>
              <a:t>Live discovery in English and Arabic</a:t>
            </a:r>
          </a:p>
        </p:txBody>
      </p:sp>
      <p:pic>
        <p:nvPicPr>
          <p:cNvPr id="2" name="">
            <a:extLst xmlns:a="http://schemas.openxmlformats.org/drawingml/2006/main">
              <a:ext uri="{FF2B5EF4-FFF2-40B4-BE49-F238E27FC236}">
                <a16:creationId xmlns:a16="http://schemas.microsoft.com/office/drawing/2014/main" id="{1F9E7564-CDE1-49F3-B13C-C568A35C9E4F}"/>
              </a:ext>
            </a:extLst>
          </p:cNvPr>
          <p:cNvPicPr>
            <a:picLocks xmlns:a="http://schemas.openxmlformats.org/drawingml/2006/main" noChangeAspect="1"/>
          </p:cNvPicPr>
          <p:nvPr/>
        </p:nvPicPr>
        <p:blipFill>
          <a:blip xmlns:r="http://schemas.openxmlformats.org/officeDocument/2006/relationships" xmlns:a="http://schemas.openxmlformats.org/drawingml/2006/main" r:embed="R3774bde714aa49ee"/>
          <a:stretch xmlns:a="http://schemas.openxmlformats.org/drawingml/2006/main"/>
        </p:blipFill>
        <p:spPr>
          <a:xfrm xmlns:a="http://schemas.openxmlformats.org/drawingml/2006/main">
            <a:off x="809863" y="1304925"/>
            <a:ext cx="2190274" cy="4867275"/>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877FE741-3BBF-4555-AB55-E5B6DAE13F3E}"/>
              </a:ext>
            </a:extLst>
          </p:cNvPr>
          <p:cNvPicPr>
            <a:picLocks xmlns:a="http://schemas.openxmlformats.org/drawingml/2006/main" noChangeAspect="1"/>
          </p:cNvPicPr>
          <p:nvPr/>
        </p:nvPicPr>
        <p:blipFill>
          <a:blip xmlns:r="http://schemas.openxmlformats.org/officeDocument/2006/relationships" xmlns:a="http://schemas.openxmlformats.org/drawingml/2006/main" r:embed="R160020874a27487d"/>
          <a:stretch xmlns:a="http://schemas.openxmlformats.org/drawingml/2006/main"/>
        </p:blipFill>
        <p:spPr>
          <a:xfrm xmlns:a="http://schemas.openxmlformats.org/drawingml/2006/main">
            <a:off x="5000863" y="1304925"/>
            <a:ext cx="2190274" cy="4867275"/>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A6669F98-9C49-452F-97F0-66061B04C644}"/>
              </a:ext>
            </a:extLst>
          </p:cNvPr>
          <p:cNvPicPr>
            <a:picLocks xmlns:a="http://schemas.openxmlformats.org/drawingml/2006/main" noChangeAspect="1"/>
          </p:cNvPicPr>
          <p:nvPr/>
        </p:nvPicPr>
        <p:blipFill>
          <a:blip xmlns:r="http://schemas.openxmlformats.org/officeDocument/2006/relationships" xmlns:a="http://schemas.openxmlformats.org/drawingml/2006/main" r:embed="R8dc7ea3ade9c43f5"/>
          <a:stretch xmlns:a="http://schemas.openxmlformats.org/drawingml/2006/main"/>
        </p:blipFill>
        <p:spPr>
          <a:xfrm xmlns:a="http://schemas.openxmlformats.org/drawingml/2006/main">
            <a:off x="9191863" y="1304925"/>
            <a:ext cx="2190274" cy="48672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C2B5469-4B13-4A5C-9570-947E06F42BC5}"/>
              </a:ext>
            </a:extLst>
          </p:cNvPr>
          <p:cNvSpPr>
            <a:spLocks xmlns:a="http://schemas.openxmlformats.org/drawingml/2006/main" noGrp="1"/>
          </p:cNvSpPr>
          <p:nvPr/>
        </p:nvSpPr>
        <p:spPr>
          <a:xfrm xmlns:a="http://schemas.openxmlformats.org/drawingml/2006/main">
            <a:off x="809625" y="628650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C1B1F"/>
                </a:solidFill>
                <a:latin typeface="Arial"/>
                <a:ea typeface="Arial"/>
                <a:cs typeface="Arial"/>
              </a:defRPr>
            </a:defPPr>
          </a:lstStyle>
          <a:p xmlns:a="http://schemas.openxmlformats.org/drawingml/2006/main">
            <a:pPr>
              <a:buNone/>
              <a:defRPr sz="1800" b="1">
                <a:solidFill>
                  <a:srgbClr val="1C1B1F"/>
                </a:solidFill>
                <a:latin typeface="Arial"/>
                <a:ea typeface="Arial"/>
                <a:cs typeface="Arial"/>
              </a:defRPr>
            </a:pPr>
            <a:r>
              <a:rPr sz="1800" b="1">
                <a:solidFill>
                  <a:srgbClr val="1C1B1F"/>
                </a:solidFill>
                <a:latin typeface="Arial"/>
                <a:ea typeface="Arial"/>
                <a:cs typeface="Arial"/>
              </a:rPr>
              <a:t>English</a:t>
            </a:r>
          </a:p>
        </p:txBody>
      </p:sp>
      <p:sp>
        <p:nvSpPr>
          <p:cNvPr id="6" name="">
            <a:extLst xmlns:a="http://schemas.openxmlformats.org/drawingml/2006/main">
              <a:ext uri="{FF2B5EF4-FFF2-40B4-BE49-F238E27FC236}">
                <a16:creationId xmlns:a16="http://schemas.microsoft.com/office/drawing/2014/main" id="{A50B4C63-EB88-4F96-A3F8-8C080639D207}"/>
              </a:ext>
            </a:extLst>
          </p:cNvPr>
          <p:cNvSpPr>
            <a:spLocks xmlns:a="http://schemas.openxmlformats.org/drawingml/2006/main" noGrp="1"/>
          </p:cNvSpPr>
          <p:nvPr/>
        </p:nvSpPr>
        <p:spPr>
          <a:xfrm xmlns:a="http://schemas.openxmlformats.org/drawingml/2006/main">
            <a:off x="5000625" y="62865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C1B1F"/>
                </a:solidFill>
                <a:latin typeface="Arial"/>
                <a:ea typeface="Arial"/>
                <a:cs typeface="Arial"/>
              </a:defRPr>
            </a:defPPr>
          </a:lstStyle>
          <a:p xmlns:a="http://schemas.openxmlformats.org/drawingml/2006/main">
            <a:pPr>
              <a:buNone/>
              <a:defRPr sz="1800" b="1">
                <a:solidFill>
                  <a:srgbClr val="1C1B1F"/>
                </a:solidFill>
                <a:latin typeface="Arial"/>
                <a:ea typeface="Arial"/>
                <a:cs typeface="Arial"/>
              </a:defRPr>
            </a:pPr>
            <a:r>
              <a:rPr sz="1800" b="1">
                <a:solidFill>
                  <a:srgbClr val="1C1B1F"/>
                </a:solidFill>
                <a:latin typeface="Arial"/>
                <a:ea typeface="Arial"/>
                <a:cs typeface="Arial"/>
              </a:rPr>
              <a:t>Arabic / RTL</a:t>
            </a:r>
          </a:p>
        </p:txBody>
      </p:sp>
      <p:sp>
        <p:nvSpPr>
          <p:cNvPr id="7" name="">
            <a:extLst xmlns:a="http://schemas.openxmlformats.org/drawingml/2006/main">
              <a:ext uri="{FF2B5EF4-FFF2-40B4-BE49-F238E27FC236}">
                <a16:creationId xmlns:a16="http://schemas.microsoft.com/office/drawing/2014/main" id="{48C1D443-E4A5-4D12-8369-50B4897444DC}"/>
              </a:ext>
            </a:extLst>
          </p:cNvPr>
          <p:cNvSpPr>
            <a:spLocks xmlns:a="http://schemas.openxmlformats.org/drawingml/2006/main" noGrp="1"/>
          </p:cNvSpPr>
          <p:nvPr/>
        </p:nvSpPr>
        <p:spPr>
          <a:xfrm xmlns:a="http://schemas.openxmlformats.org/drawingml/2006/main">
            <a:off x="9191625" y="628650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C1B1F"/>
                </a:solidFill>
                <a:latin typeface="Arial"/>
                <a:ea typeface="Arial"/>
                <a:cs typeface="Arial"/>
              </a:defRPr>
            </a:defPPr>
          </a:lstStyle>
          <a:p xmlns:a="http://schemas.openxmlformats.org/drawingml/2006/main">
            <a:pPr>
              <a:buNone/>
              <a:defRPr sz="1800" b="1">
                <a:solidFill>
                  <a:srgbClr val="1C1B1F"/>
                </a:solidFill>
                <a:latin typeface="Arial"/>
                <a:ea typeface="Arial"/>
                <a:cs typeface="Arial"/>
              </a:defRPr>
            </a:pPr>
            <a:r>
              <a:rPr sz="1800" b="1">
                <a:solidFill>
                  <a:srgbClr val="1C1B1F"/>
                </a:solidFill>
                <a:latin typeface="Arial"/>
                <a:ea typeface="Arial"/>
                <a:cs typeface="Arial"/>
              </a:rPr>
              <a:t>Dark theme</a:t>
            </a:r>
          </a:p>
        </p:txBody>
      </p:sp>
    </p:spTree>
    <p:extLst>
      <p:ext uri="{BB962C8B-B14F-4D97-AF65-F5344CB8AC3E}">
        <p14:creationId xmlns:p14="http://schemas.microsoft.com/office/powerpoint/2010/main" val="144618063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FD122A7-75EB-4E8F-BD0E-3E87746A1BAA}"/>
              </a:ext>
            </a:extLst>
          </p:cNvPr>
          <p:cNvSpPr>
            <a:spLocks xmlns:a="http://schemas.openxmlformats.org/drawingml/2006/main" noGrp="1"/>
          </p:cNvSpPr>
          <p:nvPr/>
        </p:nvSpPr>
        <p:spPr>
          <a:xfrm xmlns:a="http://schemas.openxmlformats.org/drawingml/2006/main">
            <a:off x="609600" y="4000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C1B1F"/>
                </a:solidFill>
                <a:latin typeface="Arial"/>
                <a:ea typeface="Arial"/>
                <a:cs typeface="Arial"/>
              </a:defRPr>
            </a:defPPr>
          </a:lstStyle>
          <a:p xmlns:a="http://schemas.openxmlformats.org/drawingml/2006/main">
            <a:pPr>
              <a:buNone/>
              <a:defRPr sz="3300" b="1">
                <a:solidFill>
                  <a:srgbClr val="1C1B1F"/>
                </a:solidFill>
                <a:latin typeface="Arial"/>
                <a:ea typeface="Arial"/>
                <a:cs typeface="Arial"/>
              </a:defRPr>
            </a:pPr>
            <a:r>
              <a:rPr sz="3300" b="1">
                <a:solidFill>
                  <a:srgbClr val="1C1B1F"/>
                </a:solidFill>
                <a:latin typeface="Arial"/>
                <a:ea typeface="Arial"/>
                <a:cs typeface="Arial"/>
              </a:rPr>
              <a:t>Meal details, cart and search</a:t>
            </a:r>
          </a:p>
        </p:txBody>
      </p:sp>
      <p:pic>
        <p:nvPicPr>
          <p:cNvPr id="2" name="">
            <a:extLst xmlns:a="http://schemas.openxmlformats.org/drawingml/2006/main">
              <a:ext uri="{FF2B5EF4-FFF2-40B4-BE49-F238E27FC236}">
                <a16:creationId xmlns:a16="http://schemas.microsoft.com/office/drawing/2014/main" id="{22AB2F13-B813-48AC-AA76-5823AA47AEE0}"/>
              </a:ext>
            </a:extLst>
          </p:cNvPr>
          <p:cNvPicPr>
            <a:picLocks xmlns:a="http://schemas.openxmlformats.org/drawingml/2006/main" noChangeAspect="1"/>
          </p:cNvPicPr>
          <p:nvPr/>
        </p:nvPicPr>
        <p:blipFill>
          <a:blip xmlns:r="http://schemas.openxmlformats.org/officeDocument/2006/relationships" xmlns:a="http://schemas.openxmlformats.org/drawingml/2006/main" r:embed="Rfc68055e240d4eeb"/>
          <a:stretch xmlns:a="http://schemas.openxmlformats.org/drawingml/2006/main"/>
        </p:blipFill>
        <p:spPr>
          <a:xfrm xmlns:a="http://schemas.openxmlformats.org/drawingml/2006/main" flipH="0" flipV="0">
            <a:off x="809863" y="1304925"/>
            <a:ext cx="2190274" cy="4867275"/>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00A784D5-C44B-4DE6-A4AF-E93AF88F6D2A}"/>
              </a:ext>
            </a:extLst>
          </p:cNvPr>
          <p:cNvPicPr>
            <a:picLocks xmlns:a="http://schemas.openxmlformats.org/drawingml/2006/main" noChangeAspect="1"/>
          </p:cNvPicPr>
          <p:nvPr/>
        </p:nvPicPr>
        <p:blipFill>
          <a:blip xmlns:r="http://schemas.openxmlformats.org/officeDocument/2006/relationships" xmlns:a="http://schemas.openxmlformats.org/drawingml/2006/main" r:embed="R29658095495f4325"/>
          <a:stretch xmlns:a="http://schemas.openxmlformats.org/drawingml/2006/main"/>
        </p:blipFill>
        <p:spPr>
          <a:xfrm xmlns:a="http://schemas.openxmlformats.org/drawingml/2006/main" flipH="0" flipV="0">
            <a:off x="5000863" y="1304925"/>
            <a:ext cx="2190274" cy="4867275"/>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A0605C23-C4BD-4B80-9826-F112D69C91E8}"/>
              </a:ext>
            </a:extLst>
          </p:cNvPr>
          <p:cNvPicPr>
            <a:picLocks xmlns:a="http://schemas.openxmlformats.org/drawingml/2006/main" noChangeAspect="1"/>
          </p:cNvPicPr>
          <p:nvPr/>
        </p:nvPicPr>
        <p:blipFill>
          <a:blip xmlns:r="http://schemas.openxmlformats.org/officeDocument/2006/relationships" xmlns:a="http://schemas.openxmlformats.org/drawingml/2006/main" r:embed="R0dd7dcfd34bf4a65"/>
          <a:stretch xmlns:a="http://schemas.openxmlformats.org/drawingml/2006/main"/>
        </p:blipFill>
        <p:spPr>
          <a:xfrm xmlns:a="http://schemas.openxmlformats.org/drawingml/2006/main" flipH="0" flipV="0">
            <a:off x="9191863" y="1304925"/>
            <a:ext cx="2190274" cy="48672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CAB3FAE-8909-4C70-B836-56D4BA49A847}"/>
              </a:ext>
            </a:extLst>
          </p:cNvPr>
          <p:cNvSpPr>
            <a:spLocks xmlns:a="http://schemas.openxmlformats.org/drawingml/2006/main" noGrp="1"/>
          </p:cNvSpPr>
          <p:nvPr/>
        </p:nvSpPr>
        <p:spPr>
          <a:xfrm xmlns:a="http://schemas.openxmlformats.org/drawingml/2006/main">
            <a:off x="809625" y="62865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C1B1F"/>
                </a:solidFill>
                <a:latin typeface="Arial"/>
                <a:ea typeface="Arial"/>
                <a:cs typeface="Arial"/>
              </a:defRPr>
            </a:defPPr>
          </a:lstStyle>
          <a:p xmlns:a="http://schemas.openxmlformats.org/drawingml/2006/main">
            <a:pPr>
              <a:buNone/>
              <a:defRPr sz="1800" b="1">
                <a:solidFill>
                  <a:srgbClr val="1C1B1F"/>
                </a:solidFill>
                <a:latin typeface="Arial"/>
                <a:ea typeface="Arial"/>
                <a:cs typeface="Arial"/>
              </a:defRPr>
            </a:pPr>
            <a:r>
              <a:rPr sz="1800" b="1">
                <a:solidFill>
                  <a:srgbClr val="1C1B1F"/>
                </a:solidFill>
                <a:latin typeface="Arial"/>
                <a:ea typeface="Arial"/>
                <a:cs typeface="Arial"/>
              </a:rPr>
              <a:t>Meal details</a:t>
            </a:r>
          </a:p>
        </p:txBody>
      </p:sp>
      <p:sp>
        <p:nvSpPr>
          <p:cNvPr id="6" name="">
            <a:extLst xmlns:a="http://schemas.openxmlformats.org/drawingml/2006/main">
              <a:ext uri="{FF2B5EF4-FFF2-40B4-BE49-F238E27FC236}">
                <a16:creationId xmlns:a16="http://schemas.microsoft.com/office/drawing/2014/main" id="{67578055-7303-4FFF-A3B4-A86181A4D55D}"/>
              </a:ext>
            </a:extLst>
          </p:cNvPr>
          <p:cNvSpPr>
            <a:spLocks xmlns:a="http://schemas.openxmlformats.org/drawingml/2006/main" noGrp="1"/>
          </p:cNvSpPr>
          <p:nvPr/>
        </p:nvSpPr>
        <p:spPr>
          <a:xfrm xmlns:a="http://schemas.openxmlformats.org/drawingml/2006/main">
            <a:off x="5000625" y="62865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C1B1F"/>
                </a:solidFill>
                <a:latin typeface="Arial"/>
                <a:ea typeface="Arial"/>
                <a:cs typeface="Arial"/>
              </a:defRPr>
            </a:defPPr>
          </a:lstStyle>
          <a:p xmlns:a="http://schemas.openxmlformats.org/drawingml/2006/main">
            <a:pPr>
              <a:buNone/>
              <a:defRPr sz="1800" b="1">
                <a:solidFill>
                  <a:srgbClr val="1C1B1F"/>
                </a:solidFill>
                <a:latin typeface="Arial"/>
                <a:ea typeface="Arial"/>
                <a:cs typeface="Arial"/>
              </a:defRPr>
            </a:pPr>
            <a:r>
              <a:rPr sz="1800" b="1">
                <a:solidFill>
                  <a:srgbClr val="1C1B1F"/>
                </a:solidFill>
                <a:latin typeface="Arial"/>
                <a:ea typeface="Arial"/>
                <a:cs typeface="Arial"/>
              </a:rPr>
              <a:t>Reactive cart</a:t>
            </a:r>
          </a:p>
        </p:txBody>
      </p:sp>
      <p:sp>
        <p:nvSpPr>
          <p:cNvPr id="7" name="">
            <a:extLst xmlns:a="http://schemas.openxmlformats.org/drawingml/2006/main">
              <a:ext uri="{FF2B5EF4-FFF2-40B4-BE49-F238E27FC236}">
                <a16:creationId xmlns:a16="http://schemas.microsoft.com/office/drawing/2014/main" id="{C2DEE9A5-A5F2-4693-9F55-35058FCFE578}"/>
              </a:ext>
            </a:extLst>
          </p:cNvPr>
          <p:cNvSpPr>
            <a:spLocks xmlns:a="http://schemas.openxmlformats.org/drawingml/2006/main" noGrp="1"/>
          </p:cNvSpPr>
          <p:nvPr/>
        </p:nvSpPr>
        <p:spPr>
          <a:xfrm xmlns:a="http://schemas.openxmlformats.org/drawingml/2006/main">
            <a:off x="9191625" y="62865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C1B1F"/>
                </a:solidFill>
                <a:latin typeface="Arial"/>
                <a:ea typeface="Arial"/>
                <a:cs typeface="Arial"/>
              </a:defRPr>
            </a:defPPr>
          </a:lstStyle>
          <a:p xmlns:a="http://schemas.openxmlformats.org/drawingml/2006/main">
            <a:pPr>
              <a:buNone/>
              <a:defRPr sz="1800" b="1">
                <a:solidFill>
                  <a:srgbClr val="1C1B1F"/>
                </a:solidFill>
                <a:latin typeface="Arial"/>
                <a:ea typeface="Arial"/>
                <a:cs typeface="Arial"/>
              </a:defRPr>
            </a:pPr>
            <a:r>
              <a:rPr sz="1800" b="1">
                <a:solidFill>
                  <a:srgbClr val="1C1B1F"/>
                </a:solidFill>
                <a:latin typeface="Arial"/>
                <a:ea typeface="Arial"/>
                <a:cs typeface="Arial"/>
              </a:rPr>
              <a:t>Search recovery</a:t>
            </a:r>
          </a:p>
        </p:txBody>
      </p:sp>
    </p:spTree>
    <p:extLst>
      <p:ext uri="{BB962C8B-B14F-4D97-AF65-F5344CB8AC3E}">
        <p14:creationId xmlns:p14="http://schemas.microsoft.com/office/powerpoint/2010/main" val="190934042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B77487-32FE-479C-8AA8-C426C4E0C220}"/>
              </a:ext>
            </a:extLst>
          </p:cNvPr>
          <p:cNvSpPr>
            <a:spLocks xmlns:a="http://schemas.openxmlformats.org/drawingml/2006/main" noGrp="1"/>
          </p:cNvSpPr>
          <p:nvPr/>
        </p:nvSpPr>
        <p:spPr>
          <a:xfrm xmlns:a="http://schemas.openxmlformats.org/drawingml/2006/main">
            <a:off x="609600" y="4000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C1B1F"/>
                </a:solidFill>
                <a:latin typeface="Arial"/>
                <a:ea typeface="Arial"/>
                <a:cs typeface="Arial"/>
              </a:defRPr>
            </a:defPPr>
          </a:lstStyle>
          <a:p xmlns:a="http://schemas.openxmlformats.org/drawingml/2006/main">
            <a:pPr>
              <a:buNone/>
              <a:defRPr sz="3300" b="1">
                <a:solidFill>
                  <a:srgbClr val="1C1B1F"/>
                </a:solidFill>
                <a:latin typeface="Arial"/>
                <a:ea typeface="Arial"/>
                <a:cs typeface="Arial"/>
              </a:defRPr>
            </a:pPr>
            <a:r>
              <a:rPr sz="3300" b="1">
                <a:solidFill>
                  <a:srgbClr val="1C1B1F"/>
                </a:solidFill>
                <a:latin typeface="Arial"/>
                <a:ea typeface="Arial"/>
                <a:cs typeface="Arial"/>
              </a:rPr>
              <a:t>Verification and release status</a:t>
            </a:r>
          </a:p>
        </p:txBody>
      </p:sp>
      <p:sp>
        <p:nvSpPr>
          <p:cNvPr id="2" name="">
            <a:extLst xmlns:a="http://schemas.openxmlformats.org/drawingml/2006/main">
              <a:ext uri="{FF2B5EF4-FFF2-40B4-BE49-F238E27FC236}">
                <a16:creationId xmlns:a16="http://schemas.microsoft.com/office/drawing/2014/main" id="{6DE9BF3D-AAC1-4097-9DCE-CE163678210C}"/>
              </a:ext>
            </a:extLst>
          </p:cNvPr>
          <p:cNvSpPr>
            <a:spLocks xmlns:a="http://schemas.openxmlformats.org/drawingml/2006/main" noGrp="1"/>
          </p:cNvSpPr>
          <p:nvPr/>
        </p:nvSpPr>
        <p:spPr>
          <a:xfrm xmlns:a="http://schemas.openxmlformats.org/drawingml/2006/main">
            <a:off x="685800" y="1524000"/>
            <a:ext cx="381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300" b="1">
                <a:solidFill>
                  <a:srgbClr val="00854D"/>
                </a:solidFill>
                <a:latin typeface="Arial"/>
                <a:ea typeface="Arial"/>
                <a:cs typeface="Arial"/>
              </a:defRPr>
            </a:defPPr>
          </a:lstStyle>
          <a:p xmlns:a="http://schemas.openxmlformats.org/drawingml/2006/main">
            <a:pPr>
              <a:buNone/>
              <a:defRPr sz="6300" b="1">
                <a:solidFill>
                  <a:srgbClr val="00854D"/>
                </a:solidFill>
                <a:latin typeface="Arial"/>
                <a:ea typeface="Arial"/>
                <a:cs typeface="Arial"/>
              </a:defRPr>
            </a:pPr>
            <a:r>
              <a:rPr sz="6300" b="1">
                <a:solidFill>
                  <a:srgbClr val="00854D"/>
                </a:solidFill>
                <a:latin typeface="Arial"/>
                <a:ea typeface="Arial"/>
                <a:cs typeface="Arial"/>
              </a:rPr>
              <a:t>31</a:t>
            </a:r>
          </a:p>
        </p:txBody>
      </p:sp>
      <p:sp>
        <p:nvSpPr>
          <p:cNvPr id="3" name="">
            <a:extLst xmlns:a="http://schemas.openxmlformats.org/drawingml/2006/main">
              <a:ext uri="{FF2B5EF4-FFF2-40B4-BE49-F238E27FC236}">
                <a16:creationId xmlns:a16="http://schemas.microsoft.com/office/drawing/2014/main" id="{2E78EDE1-B73A-48BB-BF72-913ED746FAEE}"/>
              </a:ext>
            </a:extLst>
          </p:cNvPr>
          <p:cNvSpPr>
            <a:spLocks xmlns:a="http://schemas.openxmlformats.org/drawingml/2006/main" noGrp="1"/>
          </p:cNvSpPr>
          <p:nvPr/>
        </p:nvSpPr>
        <p:spPr>
          <a:xfrm xmlns:a="http://schemas.openxmlformats.org/drawingml/2006/main">
            <a:off x="685800" y="2667000"/>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C1B1F"/>
                </a:solidFill>
                <a:latin typeface="Arial"/>
                <a:ea typeface="Arial"/>
                <a:cs typeface="Arial"/>
              </a:defRPr>
            </a:defPPr>
          </a:lstStyle>
          <a:p xmlns:a="http://schemas.openxmlformats.org/drawingml/2006/main">
            <a:pPr>
              <a:buNone/>
              <a:defRPr sz="2100" b="0">
                <a:solidFill>
                  <a:srgbClr val="1C1B1F"/>
                </a:solidFill>
                <a:latin typeface="Arial"/>
                <a:ea typeface="Arial"/>
                <a:cs typeface="Arial"/>
              </a:defRPr>
            </a:pPr>
            <a:r>
              <a:rPr sz="2100" b="0">
                <a:solidFill>
                  <a:srgbClr val="1C1B1F"/>
                </a:solidFill>
                <a:latin typeface="Arial"/>
                <a:ea typeface="Arial"/>
                <a:cs typeface="Arial"/>
              </a:rPr>
              <a:t>unit and layout tests passed</a:t>
            </a:r>
          </a:p>
        </p:txBody>
      </p:sp>
      <p:sp>
        <p:nvSpPr>
          <p:cNvPr id="4" name="">
            <a:extLst xmlns:a="http://schemas.openxmlformats.org/drawingml/2006/main">
              <a:ext uri="{FF2B5EF4-FFF2-40B4-BE49-F238E27FC236}">
                <a16:creationId xmlns:a16="http://schemas.microsoft.com/office/drawing/2014/main" id="{47A826F8-06B9-459A-B438-B1317A648298}"/>
              </a:ext>
            </a:extLst>
          </p:cNvPr>
          <p:cNvSpPr>
            <a:spLocks xmlns:a="http://schemas.openxmlformats.org/drawingml/2006/main" noGrp="1"/>
          </p:cNvSpPr>
          <p:nvPr/>
        </p:nvSpPr>
        <p:spPr>
          <a:xfrm xmlns:a="http://schemas.openxmlformats.org/drawingml/2006/main">
            <a:off x="685800" y="3714750"/>
            <a:ext cx="381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300" b="1">
                <a:solidFill>
                  <a:srgbClr val="00854D"/>
                </a:solidFill>
                <a:latin typeface="Arial"/>
                <a:ea typeface="Arial"/>
                <a:cs typeface="Arial"/>
              </a:defRPr>
            </a:defPPr>
          </a:lstStyle>
          <a:p xmlns:a="http://schemas.openxmlformats.org/drawingml/2006/main">
            <a:pPr>
              <a:buNone/>
              <a:defRPr sz="6300" b="1">
                <a:solidFill>
                  <a:srgbClr val="00854D"/>
                </a:solidFill>
                <a:latin typeface="Arial"/>
                <a:ea typeface="Arial"/>
                <a:cs typeface="Arial"/>
              </a:defRPr>
            </a:pPr>
            <a:r>
              <a:rPr sz="6300" b="1">
                <a:solidFill>
                  <a:srgbClr val="00854D"/>
                </a:solidFill>
                <a:latin typeface="Arial"/>
                <a:ea typeface="Arial"/>
                <a:cs typeface="Arial"/>
              </a:rPr>
              <a:t>5</a:t>
            </a:r>
          </a:p>
        </p:txBody>
      </p:sp>
      <p:sp>
        <p:nvSpPr>
          <p:cNvPr id="5" name="">
            <a:extLst xmlns:a="http://schemas.openxmlformats.org/drawingml/2006/main">
              <a:ext uri="{FF2B5EF4-FFF2-40B4-BE49-F238E27FC236}">
                <a16:creationId xmlns:a16="http://schemas.microsoft.com/office/drawing/2014/main" id="{21843454-3CBE-4BF7-BC2E-06E8C936D096}"/>
              </a:ext>
            </a:extLst>
          </p:cNvPr>
          <p:cNvSpPr>
            <a:spLocks xmlns:a="http://schemas.openxmlformats.org/drawingml/2006/main" noGrp="1"/>
          </p:cNvSpPr>
          <p:nvPr/>
        </p:nvSpPr>
        <p:spPr>
          <a:xfrm xmlns:a="http://schemas.openxmlformats.org/drawingml/2006/main">
            <a:off x="685800" y="4857750"/>
            <a:ext cx="4953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C1B1F"/>
                </a:solidFill>
                <a:latin typeface="Arial"/>
                <a:ea typeface="Arial"/>
                <a:cs typeface="Arial"/>
              </a:defRPr>
            </a:defPPr>
          </a:lstStyle>
          <a:p xmlns:a="http://schemas.openxmlformats.org/drawingml/2006/main">
            <a:pPr>
              <a:buNone/>
              <a:defRPr sz="2100" b="0">
                <a:solidFill>
                  <a:srgbClr val="1C1B1F"/>
                </a:solidFill>
                <a:latin typeface="Arial"/>
                <a:ea typeface="Arial"/>
                <a:cs typeface="Arial"/>
              </a:defRPr>
            </a:pPr>
            <a:r>
              <a:rPr sz="2100" b="0">
                <a:solidFill>
                  <a:srgbClr val="1C1B1F"/>
                </a:solidFill>
                <a:latin typeface="Arial"/>
                <a:ea typeface="Arial"/>
                <a:cs typeface="Arial"/>
              </a:rPr>
              <a:t>physical Appium cases (build 9)</a:t>
            </a:r>
          </a:p>
        </p:txBody>
      </p:sp>
      <p:sp>
        <p:nvSpPr>
          <p:cNvPr id="6" name="">
            <a:extLst xmlns:a="http://schemas.openxmlformats.org/drawingml/2006/main">
              <a:ext uri="{FF2B5EF4-FFF2-40B4-BE49-F238E27FC236}">
                <a16:creationId xmlns:a16="http://schemas.microsoft.com/office/drawing/2014/main" id="{AE57F0A7-BB7D-4E1E-BC7C-63CAD56828AC}"/>
              </a:ext>
            </a:extLst>
          </p:cNvPr>
          <p:cNvSpPr>
            <a:spLocks xmlns:a="http://schemas.openxmlformats.org/drawingml/2006/main" noGrp="1"/>
          </p:cNvSpPr>
          <p:nvPr/>
        </p:nvSpPr>
        <p:spPr>
          <a:xfrm xmlns:a="http://schemas.openxmlformats.org/drawingml/2006/main">
            <a:off x="6572250" y="166687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C1B1F"/>
                </a:solidFill>
                <a:latin typeface="Arial"/>
                <a:ea typeface="Arial"/>
                <a:cs typeface="Arial"/>
              </a:defRPr>
            </a:defPPr>
          </a:lstStyle>
          <a:p xmlns:a="http://schemas.openxmlformats.org/drawingml/2006/main">
            <a:pPr>
              <a:buNone/>
              <a:defRPr sz="2400" b="1">
                <a:solidFill>
                  <a:srgbClr val="1C1B1F"/>
                </a:solidFill>
                <a:latin typeface="Arial"/>
                <a:ea typeface="Arial"/>
                <a:cs typeface="Arial"/>
              </a:defRPr>
            </a:pPr>
            <a:r>
              <a:rPr sz="2400" b="1">
                <a:solidFill>
                  <a:srgbClr val="1C1B1F"/>
                </a:solidFill>
                <a:latin typeface="Arial"/>
                <a:ea typeface="Arial"/>
                <a:cs typeface="Arial"/>
              </a:rPr>
              <a:t>Android beta 1.0.0 (11)</a:t>
            </a:r>
          </a:p>
        </p:txBody>
      </p:sp>
      <p:sp>
        <p:nvSpPr>
          <p:cNvPr id="7" name="">
            <a:extLst xmlns:a="http://schemas.openxmlformats.org/drawingml/2006/main">
              <a:ext uri="{FF2B5EF4-FFF2-40B4-BE49-F238E27FC236}">
                <a16:creationId xmlns:a16="http://schemas.microsoft.com/office/drawing/2014/main" id="{A52F6D37-4628-4477-AA73-6BDE4CAEE673}"/>
              </a:ext>
            </a:extLst>
          </p:cNvPr>
          <p:cNvSpPr>
            <a:spLocks xmlns:a="http://schemas.openxmlformats.org/drawingml/2006/main" noGrp="1"/>
          </p:cNvSpPr>
          <p:nvPr/>
        </p:nvSpPr>
        <p:spPr>
          <a:xfrm xmlns:a="http://schemas.openxmlformats.org/drawingml/2006/main">
            <a:off x="6572250" y="24765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E6268"/>
                </a:solidFill>
                <a:latin typeface="Arial"/>
                <a:ea typeface="Arial"/>
                <a:cs typeface="Arial"/>
              </a:defRPr>
            </a:defPPr>
          </a:lstStyle>
          <a:p xmlns:a="http://schemas.openxmlformats.org/drawingml/2006/main">
            <a:pPr>
              <a:buNone/>
              <a:defRPr sz="1950" b="0">
                <a:solidFill>
                  <a:srgbClr val="5E6268"/>
                </a:solidFill>
                <a:latin typeface="Arial"/>
                <a:ea typeface="Arial"/>
                <a:cs typeface="Arial"/>
              </a:defRPr>
            </a:pPr>
            <a:r>
              <a:rPr sz="1950" b="0">
                <a:solidFill>
                  <a:srgbClr val="5E6268"/>
                </a:solidFill>
                <a:latin typeface="Arial"/>
                <a:ea typeface="Arial"/>
                <a:cs typeface="Arial"/>
              </a:rPr>
              <a:t>Firebase build 11 shared with two testers.</a:t>
            </a:r>
          </a:p>
          <a:p xmlns:a="http://schemas.openxmlformats.org/drawingml/2006/main">
            <a:pPr>
              <a:buNone/>
              <a:defRPr sz="1950" b="0">
                <a:solidFill>
                  <a:srgbClr val="5E6268"/>
                </a:solidFill>
                <a:latin typeface="Arial"/>
                <a:ea typeface="Arial"/>
                <a:cs typeface="Arial"/>
              </a:defRPr>
            </a:pPr>
            <a:r>
              <a:rPr sz="1950" b="0">
                <a:solidFill>
                  <a:srgbClr val="5E6268"/>
                </a:solidFill>
                <a:latin typeface="Arial"/>
                <a:ea typeface="Arial"/>
                <a:cs typeface="Arial"/>
              </a:rPr>
              <a:t>Search recovery verified on emulator.</a:t>
            </a:r>
          </a:p>
        </p:txBody>
      </p:sp>
      <p:sp>
        <p:nvSpPr>
          <p:cNvPr id="8" name="">
            <a:extLst xmlns:a="http://schemas.openxmlformats.org/drawingml/2006/main">
              <a:ext uri="{FF2B5EF4-FFF2-40B4-BE49-F238E27FC236}">
                <a16:creationId xmlns:a16="http://schemas.microsoft.com/office/drawing/2014/main" id="{D52528AD-0B04-4FA5-B136-EBBA9ACB7D61}"/>
              </a:ext>
            </a:extLst>
          </p:cNvPr>
          <p:cNvSpPr>
            <a:spLocks xmlns:a="http://schemas.openxmlformats.org/drawingml/2006/main" noGrp="1"/>
          </p:cNvSpPr>
          <p:nvPr/>
        </p:nvSpPr>
        <p:spPr>
          <a:xfrm xmlns:a="http://schemas.openxmlformats.org/drawingml/2006/main">
            <a:off x="6572250" y="400050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C1B1F"/>
                </a:solidFill>
                <a:latin typeface="Arial"/>
                <a:ea typeface="Arial"/>
                <a:cs typeface="Arial"/>
              </a:defRPr>
            </a:defPPr>
          </a:lstStyle>
          <a:p xmlns:a="http://schemas.openxmlformats.org/drawingml/2006/main">
            <a:pPr>
              <a:buNone/>
              <a:defRPr sz="2250" b="1">
                <a:solidFill>
                  <a:srgbClr val="1C1B1F"/>
                </a:solidFill>
                <a:latin typeface="Arial"/>
                <a:ea typeface="Arial"/>
                <a:cs typeface="Arial"/>
              </a:defRPr>
            </a:pPr>
            <a:r>
              <a:rPr sz="2250" b="1">
                <a:solidFill>
                  <a:srgbClr val="1C1B1F"/>
                </a:solidFill>
                <a:latin typeface="Arial"/>
                <a:ea typeface="Arial"/>
                <a:cs typeface="Arial"/>
              </a:rPr>
              <a:t>Scope and remaining work</a:t>
            </a:r>
          </a:p>
        </p:txBody>
      </p:sp>
      <p:sp>
        <p:nvSpPr>
          <p:cNvPr id="9" name="">
            <a:extLst xmlns:a="http://schemas.openxmlformats.org/drawingml/2006/main">
              <a:ext uri="{FF2B5EF4-FFF2-40B4-BE49-F238E27FC236}">
                <a16:creationId xmlns:a16="http://schemas.microsoft.com/office/drawing/2014/main" id="{64857AA5-CA9E-42E5-96B4-5EE016C99A73}"/>
              </a:ext>
            </a:extLst>
          </p:cNvPr>
          <p:cNvSpPr>
            <a:spLocks xmlns:a="http://schemas.openxmlformats.org/drawingml/2006/main" noGrp="1"/>
          </p:cNvSpPr>
          <p:nvPr/>
        </p:nvSpPr>
        <p:spPr>
          <a:xfrm xmlns:a="http://schemas.openxmlformats.org/drawingml/2006/main">
            <a:off x="6572250" y="4762500"/>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E6268"/>
                </a:solidFill>
                <a:latin typeface="Arial"/>
                <a:ea typeface="Arial"/>
                <a:cs typeface="Arial"/>
              </a:defRPr>
            </a:defPPr>
          </a:lstStyle>
          <a:p xmlns:a="http://schemas.openxmlformats.org/drawingml/2006/main">
            <a:pPr>
              <a:buNone/>
              <a:defRPr sz="1950" b="0">
                <a:solidFill>
                  <a:srgbClr val="5E6268"/>
                </a:solidFill>
                <a:latin typeface="Arial"/>
                <a:ea typeface="Arial"/>
                <a:cs typeface="Arial"/>
              </a:defRPr>
            </a:pPr>
            <a:r>
              <a:rPr sz="1950" b="0">
                <a:solidFill>
                  <a:srgbClr val="5E6268"/>
                </a:solidFill>
                <a:latin typeface="Arial"/>
                <a:ea typeface="Arial"/>
                <a:cs typeface="Arial"/>
              </a:rPr>
              <a:t>Figma fidelity remains partial.</a:t>
            </a:r>
          </a:p>
          <a:p xmlns:a="http://schemas.openxmlformats.org/drawingml/2006/main">
            <a:pPr>
              <a:buNone/>
              <a:defRPr sz="1950" b="0">
                <a:solidFill>
                  <a:srgbClr val="5E6268"/>
                </a:solidFill>
                <a:latin typeface="Arial"/>
                <a:ea typeface="Arial"/>
                <a:cs typeface="Arial"/>
              </a:defRPr>
            </a:pPr>
            <a:r>
              <a:rPr sz="1950" b="0">
                <a:solidFill>
                  <a:srgbClr val="5E6268"/>
                </a:solidFill>
                <a:latin typeface="Arial"/>
                <a:ea typeface="Arial"/>
                <a:cs typeface="Arial"/>
              </a:rPr>
              <a:t>Bonus map-tile diagnosis is deferred.</a:t>
            </a:r>
          </a:p>
        </p:txBody>
      </p:sp>
    </p:spTree>
    <p:extLst>
      <p:ext uri="{BB962C8B-B14F-4D97-AF65-F5344CB8AC3E}">
        <p14:creationId xmlns:p14="http://schemas.microsoft.com/office/powerpoint/2010/main" val="9451346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2026-10-14T02:52:33.6420000Z</dcterms:created>
  <dcterms:modified xsi:type="dcterms:W3CDTF">2026-10-14T02:52:33.6420000Z</dcterms:modified>
</coreProperties>
</file>