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5591019ef274a6b" /><Relationship Type="http://schemas.openxmlformats.org/officeDocument/2006/relationships/extended-properties" Target="/docProps/app.xml" Id="Raa7256979b714865" /><Relationship Type="http://schemas.openxmlformats.org/officeDocument/2006/relationships/officeDocument" Target="/ppt/presentation.xml" Id="Re5c5127e64e84b1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70e22f77fce404c"/>
  </p:sldMasterIdLst>
  <p:notesMasterIdLst>
    <p:notesMasterId xmlns:r="http://schemas.openxmlformats.org/officeDocument/2006/relationships" r:id="R27ec34baff2a4e05"/>
  </p:notesMasterIdLst>
  <p:sldIdLst>
    <p:sldId xmlns:r="http://schemas.openxmlformats.org/officeDocument/2006/relationships" id="256" r:id="Ra826f99100434505"/>
    <p:sldId xmlns:r="http://schemas.openxmlformats.org/officeDocument/2006/relationships" id="257" r:id="R8997289ba7214c98"/>
    <p:sldId xmlns:r="http://schemas.openxmlformats.org/officeDocument/2006/relationships" id="258" r:id="R4cd8a220937c487b"/>
    <p:sldId xmlns:r="http://schemas.openxmlformats.org/officeDocument/2006/relationships" id="259" r:id="R13d687d092e14e0b"/>
    <p:sldId xmlns:r="http://schemas.openxmlformats.org/officeDocument/2006/relationships" id="260" r:id="Rfcdcd30b51e74e96"/>
    <p:sldId xmlns:r="http://schemas.openxmlformats.org/officeDocument/2006/relationships" id="261" r:id="Re43829bc0240430f"/>
    <p:sldId xmlns:r="http://schemas.openxmlformats.org/officeDocument/2006/relationships" id="262" r:id="Rc8416991f74f486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3b65669accd4a61" /><Relationship Type="http://schemas.openxmlformats.org/officeDocument/2006/relationships/slideMaster" Target="/ppt/slideMasters/slideMaster1.xml" Id="R070e22f77fce404c" /><Relationship Type="http://schemas.openxmlformats.org/officeDocument/2006/relationships/notesMaster" Target="/ppt/notesMasters/notesMaster1.xml" Id="R27ec34baff2a4e05" /><Relationship Type="http://schemas.openxmlformats.org/officeDocument/2006/relationships/presProps" Target="/ppt/presProps.xml" Id="R15a45b073f604677" /><Relationship Type="http://schemas.openxmlformats.org/officeDocument/2006/relationships/tableStyles" Target="/ppt/tableStyles.xml" Id="R65489d61cabc4ea1" /><Relationship Type="http://schemas.openxmlformats.org/officeDocument/2006/relationships/slide" Target="/ppt/slides/slide1.xml" Id="Ra826f99100434505" /><Relationship Type="http://schemas.openxmlformats.org/officeDocument/2006/relationships/slide" Target="/ppt/slides/slide2.xml" Id="R8997289ba7214c98" /><Relationship Type="http://schemas.openxmlformats.org/officeDocument/2006/relationships/slide" Target="/ppt/slides/slide3.xml" Id="R4cd8a220937c487b" /><Relationship Type="http://schemas.openxmlformats.org/officeDocument/2006/relationships/slide" Target="/ppt/slides/slide4.xml" Id="R13d687d092e14e0b" /><Relationship Type="http://schemas.openxmlformats.org/officeDocument/2006/relationships/slide" Target="/ppt/slides/slide5.xml" Id="Rfcdcd30b51e74e96" /><Relationship Type="http://schemas.openxmlformats.org/officeDocument/2006/relationships/slide" Target="/ppt/slides/slide6.xml" Id="Re43829bc0240430f" /><Relationship Type="http://schemas.openxmlformats.org/officeDocument/2006/relationships/slide" Target="/ppt/slides/slide7.xml" Id="Rc8416991f74f486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be5a58becc14a4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2a319ab8e484693" /><Relationship Type="http://schemas.openxmlformats.org/officeDocument/2006/relationships/notesMaster" Target="/ppt/notesMasters/notesMaster1.xml" Id="R0a8630f92b79410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9c2c4bc0114482d" /><Relationship Type="http://schemas.openxmlformats.org/officeDocument/2006/relationships/notesMaster" Target="/ppt/notesMasters/notesMaster1.xml" Id="R5f0e1ce6b141460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bf1570d2e4643b1" /><Relationship Type="http://schemas.openxmlformats.org/officeDocument/2006/relationships/notesMaster" Target="/ppt/notesMasters/notesMaster1.xml" Id="Rf7734cfd05c1478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6b77e8a597e4fcf" /><Relationship Type="http://schemas.openxmlformats.org/officeDocument/2006/relationships/notesMaster" Target="/ppt/notesMasters/notesMaster1.xml" Id="R6bfbfd69077442b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76adbca3f3a4ec4" /><Relationship Type="http://schemas.openxmlformats.org/officeDocument/2006/relationships/notesMaster" Target="/ppt/notesMasters/notesMaster1.xml" Id="R9ee590e8dac44b2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43f573cf80b4358" /><Relationship Type="http://schemas.openxmlformats.org/officeDocument/2006/relationships/notesMaster" Target="/ppt/notesMasters/notesMaster1.xml" Id="R70130710746140d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edc03c6f0524465" /><Relationship Type="http://schemas.openxmlformats.org/officeDocument/2006/relationships/notesMaster" Target="/ppt/notesMasters/notesMaster1.xml" Id="Rf4c8cd413d2f409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 and screenshots: https://github.com/MohammedNasser0/streetbite. Captured from the Android emulator on 12 October 2026. Figma reference: https://www.figma.com/community/file/1352761962360670057/food-delivery-mobile-app-ui-kit by Vlad Solomakha, CC BY 4.0. Recipe data: https://www.themealdb.com/api.php. Prices, vendors and payment results are demonstration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 and screenshots: https://github.com/MohammedNasser0/streetbite. Captured from the Android emulator on 12 October 2026. Figma reference: https://www.figma.com/community/file/1352761962360670057/food-delivery-mobile-app-ui-kit by Vlad Solomakha, CC BY 4.0. Recipe data: https://www.themealdb.com/api.php. Prices, vendors and payment results are demonstration data. Developer name is taken from the project owner’s Git identity. No additional biography is asserted.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 and screenshots: https://github.com/MohammedNasser0/streetbite. Captured from the Android emulator on 12 October 2026. Figma reference: https://www.figma.com/community/file/1352761962360670057/food-delivery-mobile-app-ui-kit by Vlad Solomakha, CC BY 4.0. Recipe data: https://www.themealdb.com/api.php. Prices, vendors and payment results are demonstration data. Process is based on the assignment, saved implementation and verification records. This is a workflow, not an invented schedule.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 and screenshots: https://github.com/MohammedNasser0/streetbite. Captured from the Android emulator on 12 October 2026. Figma reference: https://www.figma.com/community/file/1352761962360670057/food-delivery-mobile-app-ui-kit by Vlad Solomakha, CC BY 4.0. Recipe data: https://www.themealdb.com/api.php. Prices, vendors and payment results are demonstration data. See flutter_app/lib and README.md for the implementation. Firebase app identifiers do not replace security rules.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 and screenshots: https://github.com/MohammedNasser0/streetbite. Captured from the Android emulator on 12 October 2026. Figma reference: https://www.figma.com/community/file/1352761962360670057/food-delivery-mobile-app-ui-kit by Vlad Solomakha, CC BY 4.0. Recipe data: https://www.themealdb.com/api.php. Prices, vendors and payment results are demonstration data. Screenshots are actual emulator captures; full Figma fidelity is still under review.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 and screenshots: https://github.com/MohammedNasser0/streetbite. Captured from the Android emulator on 12 October 2026. Figma reference: https://www.figma.com/community/file/1352761962360670057/food-delivery-mobile-app-ui-kit by Vlad Solomakha, CC BY 4.0. Recipe data: https://www.themealdb.com/api.php. Prices, vendors and payment results are demonstration data. Cart prices are educational demonstration data. No real payment or restaurant dispatch is performed.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Build 9: 27 Flutter tests passed; eight unique core emulator cases passed across the main run and a targeted favourites locator retry. Five physical cases passed across the main run and two retries after APK-install setup timeouts. Separate screenshot tour passed. Full physical profile/photo/restart verification is historical build 4. On 14 October 2026 the existing owner Firebase login was renewed using the interactive local callback. The CLI streamed upload encountered ECONNRESET; the identical APK was then uploaded with an explicit content length through Firebase REST and distributed to the same two authorized testers. Release ID: 6a8l9q8aa79m0; APK SHA256: 5ff43eda0287184b759d80a67c7e1694f98a22baa04c35e2176411dde7d9b917. Tester installation/acceptance remains unverified. Figma fidelity is partial, map-tile diagnosis is deferred as bonus, and manual QA remains open. Payments are simulated; no real restaurant dispatch.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3abe42382f49d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8bc2ac8f6b4d7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598dc8887f4cb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0a69bffca8468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34537740ea4c7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336413e80a4fe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9946786-E0DA-4672-BD17-F0F278D51BC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54098DD-F05E-47F7-B216-841D8D880AE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87ACE4E-4E7A-4212-A3E2-2F7D9F5C73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93E4BD0-40B5-4421-935A-61E19E92BD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D01A53F-D8C4-43DF-B29A-04659445552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ACD6E22-B925-4939-A089-828AF499622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DFC749D-7B6E-4E4B-9596-B4D77E0815B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BC1F14A-8BB4-45EC-B558-92890833C96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F1237F6-CE3D-4BDA-9E19-28B0242BCDE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8FD8F8D-EA16-4EF4-81AA-E935F6A1A44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4ede638b167411f" /><Relationship Type="http://schemas.openxmlformats.org/officeDocument/2006/relationships/slideLayout" Target="/ppt/slideLayouts/slideLayout1.xml" Id="R5c5b29af9cbc4279" /><Relationship Type="http://schemas.openxmlformats.org/officeDocument/2006/relationships/slideLayout" Target="/ppt/slideLayouts/slideLayout2.xml" Id="R06ca634b361846fb" /><Relationship Type="http://schemas.openxmlformats.org/officeDocument/2006/relationships/slideLayout" Target="/ppt/slideLayouts/slideLayout3.xml" Id="R37fb903805d44b82" /><Relationship Type="http://schemas.openxmlformats.org/officeDocument/2006/relationships/slideLayout" Target="/ppt/slideLayouts/slideLayout4.xml" Id="R1ff46c598bb64fa3" /><Relationship Type="http://schemas.openxmlformats.org/officeDocument/2006/relationships/slideLayout" Target="/ppt/slideLayouts/slideLayout5.xml" Id="R68aaf482d2ec4d22" /><Relationship Type="http://schemas.openxmlformats.org/officeDocument/2006/relationships/slideLayout" Target="/ppt/slideLayouts/slideLayout6.xml" Id="R6d94cfecf22c4d1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c5b29af9cbc4279"/>
    <p:sldLayoutId xmlns:r="http://schemas.openxmlformats.org/officeDocument/2006/relationships" id="2147483650" r:id="R06ca634b361846fb"/>
    <p:sldLayoutId xmlns:r="http://schemas.openxmlformats.org/officeDocument/2006/relationships" id="2147483651" r:id="R37fb903805d44b82"/>
    <p:sldLayoutId xmlns:r="http://schemas.openxmlformats.org/officeDocument/2006/relationships" id="2147483652" r:id="R1ff46c598bb64fa3"/>
    <p:sldLayoutId xmlns:r="http://schemas.openxmlformats.org/officeDocument/2006/relationships" id="2147483653" r:id="R68aaf482d2ec4d22"/>
    <p:sldLayoutId xmlns:r="http://schemas.openxmlformats.org/officeDocument/2006/relationships" id="2147483654" r:id="R6d94cfecf22c4d1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0c35b34bc084b77" /><Relationship Type="http://schemas.openxmlformats.org/officeDocument/2006/relationships/image" Target="/ppt/media/image.png" Id="R097daa20d3bc4460" /><Relationship Type="http://schemas.openxmlformats.org/officeDocument/2006/relationships/notesSlide" Target="/ppt/notesSlides/notesSlide1.xml" Id="R52b6cb842c0a4c3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b7404dbfdc4f21" /><Relationship Type="http://schemas.openxmlformats.org/officeDocument/2006/relationships/notesSlide" Target="/ppt/notesSlides/notesSlide2.xml" Id="Rd477cdc3909f450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df22d50ca5d4d0f" /><Relationship Type="http://schemas.openxmlformats.org/officeDocument/2006/relationships/notesSlide" Target="/ppt/notesSlides/notesSlide3.xml" Id="R3856d2c23cde4fd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a406bea803541f9" /><Relationship Type="http://schemas.openxmlformats.org/officeDocument/2006/relationships/notesSlide" Target="/ppt/notesSlides/notesSlide4.xml" Id="R6885574c0a8942a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c8ec24f86dc4ede" /><Relationship Type="http://schemas.openxmlformats.org/officeDocument/2006/relationships/image" Target="/ppt/media/image2.png" Id="Rd213c6b6e7884853" /><Relationship Type="http://schemas.openxmlformats.org/officeDocument/2006/relationships/image" Target="/ppt/media/image3.png" Id="R39290df97606420c" /><Relationship Type="http://schemas.openxmlformats.org/officeDocument/2006/relationships/image" Target="/ppt/media/image4.png" Id="R0216e668beab46c5" /><Relationship Type="http://schemas.openxmlformats.org/officeDocument/2006/relationships/notesSlide" Target="/ppt/notesSlides/notesSlide5.xml" Id="Re04b18880ddc470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be3d9bab84248c5" /><Relationship Type="http://schemas.openxmlformats.org/officeDocument/2006/relationships/image" Target="/ppt/media/image5.png" Id="R45e653f8d3764ccf" /><Relationship Type="http://schemas.openxmlformats.org/officeDocument/2006/relationships/image" Target="/ppt/media/image6.png" Id="Ra6cb0181ff834f87" /><Relationship Type="http://schemas.openxmlformats.org/officeDocument/2006/relationships/image" Target="/ppt/media/image7.png" Id="Rbcef1cb3cdb9452a" /><Relationship Type="http://schemas.openxmlformats.org/officeDocument/2006/relationships/notesSlide" Target="/ppt/notesSlides/notesSlide6.xml" Id="R94c93de0f2b74ac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3ad5018c2a347b2" /><Relationship Type="http://schemas.openxmlformats.org/officeDocument/2006/relationships/notesSlide" Target="/ppt/notesSlides/notesSlide7.xml" Id="Rc019665434cf4a2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0C87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98E75C-B926-42E6-9E84-CB1732B47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695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StreetBite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DC012B-799F-4D76-ACE0-E833CE4FC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6762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8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Food discovery &amp; demo ordering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95C0C6-BF40-4E9E-A809-00C4334C2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666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Flutter graduation project</a:t>
            </a:r>
          </a:p>
          <a:p xmlns:a="http://schemas.openxmlformats.org/drawingml/2006/main">
            <a:pPr>
              <a:buNone/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Mohammed Nasser · October 2026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FC7781-245C-4DB5-8080-E3FFD374A92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7daa20d3bc4460"/>
          <a:stretch xmlns:a="http://schemas.openxmlformats.org/drawingml/2006/main"/>
        </p:blipFill>
        <p:spPr>
          <a:xfrm xmlns:a="http://schemas.openxmlformats.org/drawingml/2006/main">
            <a:off x="8572500" y="666750"/>
            <a:ext cx="2314575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580377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4A221A-2A93-4D88-B9AF-240B69AB2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30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C1B1F"/>
                </a:solidFill>
                <a:latin typeface="Arial"/>
                <a:ea typeface="Arial"/>
                <a:cs typeface="Arial"/>
              </a:rPr>
              <a:t>Developer introduction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DE1337-2C85-4A33-8621-F7CE534C7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35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435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C1B1F"/>
                </a:solidFill>
                <a:latin typeface="Arial"/>
                <a:ea typeface="Arial"/>
                <a:cs typeface="Arial"/>
              </a:rPr>
              <a:t>Mohammed Nasser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DB422F-1E56-45B8-AD7A-12F40BDE2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0375"/>
            <a:ext cx="1047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400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5E6268"/>
                </a:solidFill>
                <a:latin typeface="Arial"/>
                <a:ea typeface="Arial"/>
                <a:cs typeface="Arial"/>
              </a:rPr>
              <a:t>Flutter development, application architecture and QA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50C5BF-9491-4915-AA72-C5F4F3AC5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10477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C1B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250" b="0">
                <a:solidFill>
                  <a:srgbClr val="1C1B1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C1B1F"/>
                </a:solidFill>
                <a:latin typeface="Arial"/>
                <a:ea typeface="Arial"/>
                <a:cs typeface="Arial"/>
              </a:rPr>
              <a:t>StreetBite brings live recipes, a reactive cart and account features</a:t>
            </a:r>
          </a:p>
          <a:p xmlns:a="http://schemas.openxmlformats.org/drawingml/2006/main">
            <a:pPr>
              <a:buNone/>
              <a:defRPr sz="2250" b="0">
                <a:solidFill>
                  <a:srgbClr val="1C1B1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C1B1F"/>
                </a:solidFill>
                <a:latin typeface="Arial"/>
                <a:ea typeface="Arial"/>
                <a:cs typeface="Arial"/>
              </a:rPr>
              <a:t>into one Arabic and English application.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053076-659D-4197-B20B-918788E30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0085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950" b="0">
                <a:solidFill>
                  <a:srgbClr val="0085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0854D"/>
                </a:solidFill>
                <a:latin typeface="Arial"/>
                <a:ea typeface="Arial"/>
                <a:cs typeface="Arial"/>
              </a:rPr>
              <a:t>github.com/MohammedNasser0/streetbite</a:t>
            </a:r>
          </a:p>
        </p:txBody>
      </p:sp>
    </p:spTree>
    <p:extLst>
      <p:ext uri="{BB962C8B-B14F-4D97-AF65-F5344CB8AC3E}">
        <p14:creationId xmlns:p14="http://schemas.microsoft.com/office/powerpoint/2010/main" val="8598426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EE6D03-0E39-4F78-828C-2F73301A9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30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C1B1F"/>
                </a:solidFill>
                <a:latin typeface="Arial"/>
                <a:ea typeface="Arial"/>
                <a:cs typeface="Arial"/>
              </a:rPr>
              <a:t>Development and planning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1A2931-8786-44E2-8026-D27A14107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85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0085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000" b="1">
                <a:solidFill>
                  <a:srgbClr val="00854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0854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6428A3-CB95-4FC1-91C8-4E3A8C622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476375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25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C1B1F"/>
                </a:solidFill>
                <a:latin typeface="Arial"/>
                <a:ea typeface="Arial"/>
                <a:cs typeface="Arial"/>
              </a:rPr>
              <a:t>Requirements &amp; design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9F9FED-7E8F-4D47-B6AA-6F633161D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038350"/>
            <a:ext cx="9525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E6268"/>
                </a:solidFill>
                <a:latin typeface="Arial"/>
                <a:ea typeface="Arial"/>
                <a:cs typeface="Arial"/>
              </a:rPr>
              <a:t>Map the assignment to screens, integrations and acceptance evidence.</a:t>
            </a:r>
          </a:p>
          <a:p xmlns:a="http://schemas.openxmlformats.org/drawingml/2006/main">
            <a:pPr>
              <a:buNone/>
              <a:defRPr sz="1875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E6268"/>
                </a:solidFill>
                <a:latin typeface="Arial"/>
                <a:ea typeface="Arial"/>
                <a:cs typeface="Arial"/>
              </a:rPr>
              <a:t>Inspect the supplied Figma frames and preserve the green delivery brand.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60D6B8-8C27-436C-A6FF-6ABAA1168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95625"/>
            <a:ext cx="85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0085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000" b="1">
                <a:solidFill>
                  <a:srgbClr val="00854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0854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DE1D17-FED6-45C0-8435-FCEE5178D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095625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25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C1B1F"/>
                </a:solidFill>
                <a:latin typeface="Arial"/>
                <a:ea typeface="Arial"/>
                <a:cs typeface="Arial"/>
              </a:rPr>
              <a:t>Application implementation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CD45A2-EFC2-4E0E-A07D-371E8CC9B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657600"/>
            <a:ext cx="9525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E6268"/>
                </a:solidFill>
                <a:latin typeface="Arial"/>
                <a:ea typeface="Arial"/>
                <a:cs typeface="Arial"/>
              </a:rPr>
              <a:t>Build the domain contracts, repositories, BLoCs and bilingual screens.</a:t>
            </a:r>
          </a:p>
          <a:p xmlns:a="http://schemas.openxmlformats.org/drawingml/2006/main">
            <a:pPr>
              <a:buNone/>
              <a:defRPr sz="1875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E6268"/>
                </a:solidFill>
                <a:latin typeface="Arial"/>
                <a:ea typeface="Arial"/>
                <a:cs typeface="Arial"/>
              </a:rPr>
              <a:t>Connect live recipes, local caching, Firebase accounts and demo orders.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D98571-6601-47F8-8ECC-EFFD12B19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14875"/>
            <a:ext cx="85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0085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000" b="1">
                <a:solidFill>
                  <a:srgbClr val="00854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0854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24C024-DC9D-4A07-86A4-6CAC2ED69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714875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25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C1B1F"/>
                </a:solidFill>
                <a:latin typeface="Arial"/>
                <a:ea typeface="Arial"/>
                <a:cs typeface="Arial"/>
              </a:rPr>
              <a:t>Verification &amp; beta delivery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4D8B03-AC7F-4036-9B27-48BDE3C48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276850"/>
            <a:ext cx="9525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E6268"/>
                </a:solidFill>
                <a:latin typeface="Arial"/>
                <a:ea typeface="Arial"/>
                <a:cs typeface="Arial"/>
              </a:rPr>
              <a:t>Verify the core flows on emulator and physical Android.</a:t>
            </a:r>
          </a:p>
          <a:p xmlns:a="http://schemas.openxmlformats.org/drawingml/2006/main">
            <a:pPr>
              <a:buNone/>
              <a:defRPr sz="1875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E6268"/>
                </a:solidFill>
                <a:latin typeface="Arial"/>
                <a:ea typeface="Arial"/>
                <a:cs typeface="Arial"/>
              </a:rPr>
              <a:t>Document beta delivery and distinguish optional QA evidence.</a:t>
            </a:r>
          </a:p>
        </p:txBody>
      </p:sp>
    </p:spTree>
    <p:extLst>
      <p:ext uri="{BB962C8B-B14F-4D97-AF65-F5344CB8AC3E}">
        <p14:creationId xmlns:p14="http://schemas.microsoft.com/office/powerpoint/2010/main" val="203165402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A093C6-386B-47B7-99C3-370EB37FC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30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C1B1F"/>
                </a:solidFill>
                <a:latin typeface="Arial"/>
                <a:ea typeface="Arial"/>
                <a:cs typeface="Arial"/>
              </a:rPr>
              <a:t>Application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8B44AE-BA14-4EE7-88AB-D79BA657B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2428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0085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400" b="1">
                <a:solidFill>
                  <a:srgbClr val="00854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854D"/>
                </a:solidFill>
                <a:latin typeface="Arial"/>
                <a:ea typeface="Arial"/>
                <a:cs typeface="Arial"/>
              </a:rPr>
              <a:t>Presentation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027CBC-0069-4691-9B3D-BB4E57BE0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619250"/>
            <a:ext cx="7810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C1B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1C1B1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C1B1F"/>
                </a:solidFill>
                <a:latin typeface="Arial"/>
                <a:ea typeface="Arial"/>
                <a:cs typeface="Arial"/>
              </a:rPr>
              <a:t>Screens and reusable widgets</a:t>
            </a:r>
          </a:p>
          <a:p xmlns:a="http://schemas.openxmlformats.org/drawingml/2006/main">
            <a:pPr>
              <a:buNone/>
              <a:defRPr sz="2025" b="0">
                <a:solidFill>
                  <a:srgbClr val="1C1B1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C1B1F"/>
                </a:solidFill>
                <a:latin typeface="Arial"/>
                <a:ea typeface="Arial"/>
                <a:cs typeface="Arial"/>
              </a:rPr>
              <a:t>AuthCubit, MenuCubit, CartBloc, ThemeBloc and LocaleCubit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F1A41A-97BE-499D-905D-5AD10B962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0375"/>
            <a:ext cx="2428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0085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400" b="1">
                <a:solidFill>
                  <a:srgbClr val="00854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854D"/>
                </a:solidFill>
                <a:latin typeface="Arial"/>
                <a:ea typeface="Arial"/>
                <a:cs typeface="Arial"/>
              </a:rPr>
              <a:t>Domain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2610E0-D0A3-4DB0-A025-53EE25949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000375"/>
            <a:ext cx="7810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C1B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1C1B1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C1B1F"/>
                </a:solidFill>
                <a:latin typeface="Arial"/>
                <a:ea typeface="Arial"/>
                <a:cs typeface="Arial"/>
              </a:rPr>
              <a:t>Entities, repository contracts and use cases</a:t>
            </a:r>
          </a:p>
          <a:p xmlns:a="http://schemas.openxmlformats.org/drawingml/2006/main">
            <a:pPr>
              <a:buNone/>
              <a:defRPr sz="2025" b="0">
                <a:solidFill>
                  <a:srgbClr val="1C1B1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C1B1F"/>
                </a:solidFill>
                <a:latin typeface="Arial"/>
                <a:ea typeface="Arial"/>
                <a:cs typeface="Arial"/>
              </a:rPr>
              <a:t>SearchMeals, PlaceOrder, cash and demo-card payment strategies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0AF24F-C148-488A-A646-5E09FEFCE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2428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0085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400" b="1">
                <a:solidFill>
                  <a:srgbClr val="00854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854D"/>
                </a:solidFill>
                <a:latin typeface="Arial"/>
                <a:ea typeface="Arial"/>
                <a:cs typeface="Arial"/>
              </a:rPr>
              <a:t>Data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059D1E-E69C-49A9-8541-52BC40B84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381500"/>
            <a:ext cx="7810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C1B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1C1B1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C1B1F"/>
                </a:solidFill>
                <a:latin typeface="Arial"/>
                <a:ea typeface="Arial"/>
                <a:cs typeface="Arial"/>
              </a:rPr>
              <a:t>Dio remote source, shared_preferences cache and JSON models</a:t>
            </a:r>
          </a:p>
          <a:p xmlns:a="http://schemas.openxmlformats.org/drawingml/2006/main">
            <a:pPr>
              <a:buNone/>
              <a:defRPr sz="2025" b="0">
                <a:solidFill>
                  <a:srgbClr val="1C1B1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C1B1F"/>
                </a:solidFill>
                <a:latin typeface="Arial"/>
                <a:ea typeface="Arial"/>
                <a:cs typeface="Arial"/>
              </a:rPr>
              <a:t>Firebase repositories and the Firestore service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A9D759-4043-4B56-9BC2-76317911F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34100"/>
            <a:ext cx="1085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725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E6268"/>
                </a:solidFill>
                <a:latin typeface="Arial"/>
                <a:ea typeface="Arial"/>
                <a:cs typeface="Arial"/>
              </a:rPr>
              <a:t>GetIt dependencies · Builder profiles · Factory sources · Singleton Firestore</a:t>
            </a:r>
          </a:p>
        </p:txBody>
      </p:sp>
    </p:spTree>
    <p:extLst>
      <p:ext uri="{BB962C8B-B14F-4D97-AF65-F5344CB8AC3E}">
        <p14:creationId xmlns:p14="http://schemas.microsoft.com/office/powerpoint/2010/main" val="60891384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21A700-D82A-4BF0-AA1D-7AE572AD7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30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C1B1F"/>
                </a:solidFill>
                <a:latin typeface="Arial"/>
                <a:ea typeface="Arial"/>
                <a:cs typeface="Arial"/>
              </a:rPr>
              <a:t>Live discovery in English and Arabic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1AF13A-1C6C-4238-95B3-C822E57A7D5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13c6b6e7884853"/>
          <a:stretch xmlns:a="http://schemas.openxmlformats.org/drawingml/2006/main"/>
        </p:blipFill>
        <p:spPr>
          <a:xfrm xmlns:a="http://schemas.openxmlformats.org/drawingml/2006/main">
            <a:off x="809863" y="1304925"/>
            <a:ext cx="2190274" cy="4867275"/>
          </a:xfrm>
          <a:prstGeom xmlns:a="http://schemas.openxmlformats.org/drawingml/2006/main" prst="rect">
            <a:avLst/>
          </a:prstGeom>
        </p:spPr>
      </p:pic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FB4BDE-7AFF-43AC-8D18-887463A9B3B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290df97606420c"/>
          <a:stretch xmlns:a="http://schemas.openxmlformats.org/drawingml/2006/main"/>
        </p:blipFill>
        <p:spPr>
          <a:xfrm xmlns:a="http://schemas.openxmlformats.org/drawingml/2006/main">
            <a:off x="5000863" y="1304925"/>
            <a:ext cx="2190274" cy="4867275"/>
          </a:xfrm>
          <a:prstGeom xmlns:a="http://schemas.openxmlformats.org/drawingml/2006/main" prst="rect">
            <a:avLst/>
          </a:prstGeom>
        </p:spPr>
      </p:pic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0622D7-4519-4787-9620-A27DDAD0869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16e668beab46c5"/>
          <a:stretch xmlns:a="http://schemas.openxmlformats.org/drawingml/2006/main"/>
        </p:blipFill>
        <p:spPr>
          <a:xfrm xmlns:a="http://schemas.openxmlformats.org/drawingml/2006/main">
            <a:off x="9191863" y="1304925"/>
            <a:ext cx="2190274" cy="48672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2B5469-4B13-4A5C-9570-947E06F42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8650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80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C1B1F"/>
                </a:solidFill>
                <a:latin typeface="Arial"/>
                <a:ea typeface="Arial"/>
                <a:cs typeface="Arial"/>
              </a:rPr>
              <a:t>English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0B4C63-EB88-4F96-A3F8-8C080639D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62865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80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C1B1F"/>
                </a:solidFill>
                <a:latin typeface="Arial"/>
                <a:ea typeface="Arial"/>
                <a:cs typeface="Arial"/>
              </a:rPr>
              <a:t>Arabic / RTL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C1D443-E4A5-4D12-8369-50B489744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2865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80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C1B1F"/>
                </a:solidFill>
                <a:latin typeface="Arial"/>
                <a:ea typeface="Arial"/>
                <a:cs typeface="Arial"/>
              </a:rPr>
              <a:t>Dark theme</a:t>
            </a:r>
          </a:p>
        </p:txBody>
      </p:sp>
    </p:spTree>
    <p:extLst>
      <p:ext uri="{BB962C8B-B14F-4D97-AF65-F5344CB8AC3E}">
        <p14:creationId xmlns:p14="http://schemas.microsoft.com/office/powerpoint/2010/main" val="144618063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D122A7-75EB-4E8F-BD0E-3E87746A1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30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C1B1F"/>
                </a:solidFill>
                <a:latin typeface="Arial"/>
                <a:ea typeface="Arial"/>
                <a:cs typeface="Arial"/>
              </a:rPr>
              <a:t>Meal details, cart and account access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DCE17D-56FE-4EE4-903E-94C76D87743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e653f8d3764ccf"/>
          <a:stretch xmlns:a="http://schemas.openxmlformats.org/drawingml/2006/main"/>
        </p:blipFill>
        <p:spPr>
          <a:xfrm xmlns:a="http://schemas.openxmlformats.org/drawingml/2006/main" flipH="0" flipV="0">
            <a:off x="809863" y="1304925"/>
            <a:ext cx="2190274" cy="4867275"/>
          </a:xfrm>
          <a:prstGeom xmlns:a="http://schemas.openxmlformats.org/drawingml/2006/main" prst="rect">
            <a:avLst/>
          </a:prstGeom>
        </p:spPr>
      </p:pic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44FD3B-83DC-4E74-98E8-C1414889144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cb0181ff834f87"/>
          <a:stretch xmlns:a="http://schemas.openxmlformats.org/drawingml/2006/main"/>
        </p:blipFill>
        <p:spPr>
          <a:xfrm xmlns:a="http://schemas.openxmlformats.org/drawingml/2006/main" flipH="0" flipV="0">
            <a:off x="5000863" y="1304925"/>
            <a:ext cx="2190274" cy="4867275"/>
          </a:xfrm>
          <a:prstGeom xmlns:a="http://schemas.openxmlformats.org/drawingml/2006/main" prst="rect">
            <a:avLst/>
          </a:prstGeom>
        </p:spPr>
      </p:pic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329A93-526B-4095-A998-09D6CC863BE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ef1cb3cdb9452a"/>
          <a:stretch xmlns:a="http://schemas.openxmlformats.org/drawingml/2006/main"/>
        </p:blipFill>
        <p:spPr>
          <a:xfrm xmlns:a="http://schemas.openxmlformats.org/drawingml/2006/main">
            <a:off x="9191863" y="1304925"/>
            <a:ext cx="2190274" cy="48672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AB3FAE-8909-4C70-B836-56D4BA49A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8650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80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C1B1F"/>
                </a:solidFill>
                <a:latin typeface="Arial"/>
                <a:ea typeface="Arial"/>
                <a:cs typeface="Arial"/>
              </a:rPr>
              <a:t>Meal details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578055-7303-4FFF-A3B4-A86181A4D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62865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80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C1B1F"/>
                </a:solidFill>
                <a:latin typeface="Arial"/>
                <a:ea typeface="Arial"/>
                <a:cs typeface="Arial"/>
              </a:rPr>
              <a:t>Reactive cart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DEE9A5-A5F2-4693-9F55-35058FCFE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28650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80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C1B1F"/>
                </a:solidFill>
                <a:latin typeface="Arial"/>
                <a:ea typeface="Arial"/>
                <a:cs typeface="Arial"/>
              </a:rPr>
              <a:t>Email sign-in</a:t>
            </a:r>
          </a:p>
        </p:txBody>
      </p:sp>
    </p:spTree>
    <p:extLst>
      <p:ext uri="{BB962C8B-B14F-4D97-AF65-F5344CB8AC3E}">
        <p14:creationId xmlns:p14="http://schemas.microsoft.com/office/powerpoint/2010/main" val="190934042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B77487-32FE-479C-8AA8-C426C4E0C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30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C1B1F"/>
                </a:solidFill>
                <a:latin typeface="Arial"/>
                <a:ea typeface="Arial"/>
                <a:cs typeface="Arial"/>
              </a:rPr>
              <a:t>Verification and release status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E9BF3D-AAC1-4097-9DCE-CE1636782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3810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300" b="1">
                <a:solidFill>
                  <a:srgbClr val="0085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6300" b="1">
                <a:solidFill>
                  <a:srgbClr val="00854D"/>
                </a:solidFill>
                <a:latin typeface="Arial"/>
                <a:ea typeface="Arial"/>
                <a:cs typeface="Arial"/>
              </a:defRPr>
            </a:pPr>
            <a:r>
              <a:rPr sz="6300" b="1">
                <a:solidFill>
                  <a:srgbClr val="00854D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78EDE1-B73A-48BB-BF72-913ED746F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85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C1B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100" b="0">
                <a:solidFill>
                  <a:srgbClr val="1C1B1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C1B1F"/>
                </a:solidFill>
                <a:latin typeface="Arial"/>
                <a:ea typeface="Arial"/>
                <a:cs typeface="Arial"/>
              </a:rPr>
              <a:t>unit and layout tests passed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A826F8-06B9-459A-B438-B1317A648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3810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300" b="1">
                <a:solidFill>
                  <a:srgbClr val="0085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6300" b="1">
                <a:solidFill>
                  <a:srgbClr val="00854D"/>
                </a:solidFill>
                <a:latin typeface="Arial"/>
                <a:ea typeface="Arial"/>
                <a:cs typeface="Arial"/>
              </a:defRPr>
            </a:pPr>
            <a:r>
              <a:rPr sz="6300" b="1">
                <a:solidFill>
                  <a:srgbClr val="00854D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843454-3CBE-4BF7-BC2E-06E8C936D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4953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C1B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100" b="0">
                <a:solidFill>
                  <a:srgbClr val="1C1B1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C1B1F"/>
                </a:solidFill>
                <a:latin typeface="Arial"/>
                <a:ea typeface="Arial"/>
                <a:cs typeface="Arial"/>
              </a:rPr>
              <a:t>physical Appium cases (build 9)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57F0A7-BB7D-4E1E-BC7C-63CAD5682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66875"/>
            <a:ext cx="4857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40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C1B1F"/>
                </a:solidFill>
                <a:latin typeface="Arial"/>
                <a:ea typeface="Arial"/>
                <a:cs typeface="Arial"/>
              </a:rPr>
              <a:t>Android beta 1.0.0 (9)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2F6D37-4628-4477-AA73-6BDE4CAEE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76500"/>
            <a:ext cx="4857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950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E6268"/>
                </a:solidFill>
                <a:latin typeface="Arial"/>
                <a:ea typeface="Arial"/>
                <a:cs typeface="Arial"/>
              </a:rPr>
              <a:t>Firebase build 9 shared with two testers.</a:t>
            </a:r>
          </a:p>
          <a:p xmlns:a="http://schemas.openxmlformats.org/drawingml/2006/main">
            <a:pPr>
              <a:buNone/>
              <a:defRPr sz="1950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E6268"/>
                </a:solidFill>
                <a:latin typeface="Arial"/>
                <a:ea typeface="Arial"/>
                <a:cs typeface="Arial"/>
              </a:rPr>
              <a:t>Core flows checked on Android.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2528AD-0B04-4FA5-B136-EBBA9ACB7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00500"/>
            <a:ext cx="4857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25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C1B1F"/>
                </a:solidFill>
                <a:latin typeface="Arial"/>
                <a:ea typeface="Arial"/>
                <a:cs typeface="Arial"/>
              </a:rPr>
              <a:t>Scope and remaining work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857AA5-CA9E-42E5-96B4-5EE016C99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762500"/>
            <a:ext cx="4857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950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E6268"/>
                </a:solidFill>
                <a:latin typeface="Arial"/>
                <a:ea typeface="Arial"/>
                <a:cs typeface="Arial"/>
              </a:rPr>
              <a:t>Figma fidelity remains partial.</a:t>
            </a:r>
          </a:p>
          <a:p xmlns:a="http://schemas.openxmlformats.org/drawingml/2006/main">
            <a:pPr>
              <a:buNone/>
              <a:defRPr sz="1950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E6268"/>
                </a:solidFill>
                <a:latin typeface="Arial"/>
                <a:ea typeface="Arial"/>
                <a:cs typeface="Arial"/>
              </a:rPr>
              <a:t>Bonus map-tile diagnosis is deferred.</a:t>
            </a:r>
          </a:p>
        </p:txBody>
      </p:sp>
    </p:spTree>
    <p:extLst>
      <p:ext uri="{BB962C8B-B14F-4D97-AF65-F5344CB8AC3E}">
        <p14:creationId xmlns:p14="http://schemas.microsoft.com/office/powerpoint/2010/main" val="9451346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2026-10-13T21:17:15.1640000Z</dcterms:created>
  <dcterms:modified xsi:type="dcterms:W3CDTF">2026-10-13T21:17:15.1640000Z</dcterms:modified>
</coreProperties>
</file>